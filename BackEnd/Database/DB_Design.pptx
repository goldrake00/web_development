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5167" r:id="rId1"/>
  </p:sldMasterIdLst>
  <p:sldIdLst>
    <p:sldId id="256" r:id="rId2"/>
    <p:sldId id="257" r:id="rId3"/>
    <p:sldId id="264" r:id="rId4"/>
    <p:sldId id="265" r:id="rId5"/>
    <p:sldId id="266" r:id="rId6"/>
    <p:sldId id="268" r:id="rId7"/>
    <p:sldId id="269" r:id="rId8"/>
    <p:sldId id="270" r:id="rId9"/>
    <p:sldId id="271" r:id="rId10"/>
    <p:sldId id="272" r:id="rId11"/>
    <p:sldId id="274" r:id="rId12"/>
    <p:sldId id="273" r:id="rId13"/>
    <p:sldId id="280" r:id="rId14"/>
    <p:sldId id="275" r:id="rId15"/>
    <p:sldId id="276" r:id="rId16"/>
    <p:sldId id="277" r:id="rId17"/>
    <p:sldId id="278" r:id="rId18"/>
    <p:sldId id="279" r:id="rId19"/>
    <p:sldId id="281" r:id="rId20"/>
    <p:sldId id="282" r:id="rId21"/>
    <p:sldId id="258" r:id="rId22"/>
    <p:sldId id="283" r:id="rId23"/>
    <p:sldId id="284" r:id="rId24"/>
    <p:sldId id="267" r:id="rId25"/>
    <p:sldId id="259" r:id="rId26"/>
    <p:sldId id="260" r:id="rId27"/>
    <p:sldId id="26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02"/>
    <p:restoredTop sz="95431"/>
  </p:normalViewPr>
  <p:slideViewPr>
    <p:cSldViewPr snapToGrid="0">
      <p:cViewPr varScale="1">
        <p:scale>
          <a:sx n="102" d="100"/>
          <a:sy n="102" d="100"/>
        </p:scale>
        <p:origin x="8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28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394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12/6/25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131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581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12/6/25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535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12/6/25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655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12/6/25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44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564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12/6/25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05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802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9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12/6/25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103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68" r:id="rId1"/>
    <p:sldLayoutId id="2147485169" r:id="rId2"/>
    <p:sldLayoutId id="2147485170" r:id="rId3"/>
    <p:sldLayoutId id="2147485171" r:id="rId4"/>
    <p:sldLayoutId id="2147485172" r:id="rId5"/>
    <p:sldLayoutId id="2147485173" r:id="rId6"/>
    <p:sldLayoutId id="2147485174" r:id="rId7"/>
    <p:sldLayoutId id="2147485175" r:id="rId8"/>
    <p:sldLayoutId id="2147485176" r:id="rId9"/>
    <p:sldLayoutId id="2147485177" r:id="rId10"/>
    <p:sldLayoutId id="21474851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6924F-96A8-9DF4-09CD-5D9756C76B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Database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EE2C29-345B-1CAE-5458-61C1A1C069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1560" y="4453128"/>
            <a:ext cx="7891272" cy="106984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MARCO ROMANÓ</a:t>
            </a:r>
          </a:p>
          <a:p>
            <a:r>
              <a:rPr lang="en-US" dirty="0"/>
              <a:t>B.Sc. Engineer</a:t>
            </a:r>
          </a:p>
          <a:p>
            <a:r>
              <a:rPr lang="en-US" dirty="0"/>
              <a:t>MBA</a:t>
            </a:r>
          </a:p>
        </p:txBody>
      </p:sp>
    </p:spTree>
    <p:extLst>
      <p:ext uri="{BB962C8B-B14F-4D97-AF65-F5344CB8AC3E}">
        <p14:creationId xmlns:p14="http://schemas.microsoft.com/office/powerpoint/2010/main" val="4067310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25DBD-922C-8444-394F-5F4AF0592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STEPS DATABASE DESIGNING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E7BA7-E8C0-11D8-0002-FDBA483F5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Conceptual Model</a:t>
            </a:r>
          </a:p>
          <a:p>
            <a:r>
              <a:rPr lang="en-US" dirty="0"/>
              <a:t>Logical Model</a:t>
            </a:r>
          </a:p>
          <a:p>
            <a:r>
              <a:rPr lang="en-US" dirty="0"/>
              <a:t>Physical Model</a:t>
            </a:r>
          </a:p>
        </p:txBody>
      </p:sp>
    </p:spTree>
    <p:extLst>
      <p:ext uri="{BB962C8B-B14F-4D97-AF65-F5344CB8AC3E}">
        <p14:creationId xmlns:p14="http://schemas.microsoft.com/office/powerpoint/2010/main" val="278641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B95D1-CDDE-7460-2574-48F8AC12E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Conceptual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F07AD-4CC9-43E2-97E2-1C93D6B163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693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25DBD-922C-8444-394F-5F4AF0592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071360" cy="1609344"/>
          </a:xfrm>
        </p:spPr>
        <p:txBody>
          <a:bodyPr/>
          <a:lstStyle/>
          <a:p>
            <a:r>
              <a:rPr lang="en-US" dirty="0"/>
              <a:t>Conceptual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E7BA7-E8C0-11D8-0002-FDBA483F5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420" y="1374324"/>
            <a:ext cx="6707240" cy="4597693"/>
          </a:xfrm>
        </p:spPr>
        <p:txBody>
          <a:bodyPr>
            <a:normAutofit/>
          </a:bodyPr>
          <a:lstStyle/>
          <a:p>
            <a:r>
              <a:rPr lang="en-US" sz="1200" dirty="0">
                <a:latin typeface="Comic Sans MS" panose="030F0902030302020204" pitchFamily="66" charset="0"/>
              </a:rPr>
              <a:t>Conceptual Model also know as Entity Relationship model</a:t>
            </a:r>
          </a:p>
          <a:p>
            <a:r>
              <a:rPr lang="en-US" sz="1200" dirty="0">
                <a:latin typeface="Comic Sans MS" panose="030F0902030302020204" pitchFamily="66" charset="0"/>
              </a:rPr>
              <a:t>This level is independent from DB type (relational and non-relational)</a:t>
            </a:r>
          </a:p>
          <a:p>
            <a:r>
              <a:rPr lang="en-US" sz="1200" dirty="0">
                <a:latin typeface="Comic Sans MS" panose="030F0902030302020204" pitchFamily="66" charset="0"/>
              </a:rPr>
              <a:t>What are the steps to create this model?</a:t>
            </a:r>
          </a:p>
          <a:p>
            <a:pPr marL="502920" lvl="1" indent="-228600">
              <a:buFont typeface="+mj-lt"/>
              <a:buAutoNum type="arabicPeriod"/>
            </a:pPr>
            <a:r>
              <a:rPr lang="en-US" sz="1000" dirty="0">
                <a:latin typeface="Comic Sans MS" panose="030F0902030302020204" pitchFamily="66" charset="0"/>
              </a:rPr>
              <a:t>Define </a:t>
            </a:r>
            <a:r>
              <a:rPr lang="en-US" sz="1000" b="1" dirty="0">
                <a:latin typeface="Comic Sans MS" panose="030F0902030302020204" pitchFamily="66" charset="0"/>
              </a:rPr>
              <a:t>Entity</a:t>
            </a:r>
            <a:r>
              <a:rPr lang="en-US" sz="1000" dirty="0">
                <a:latin typeface="Comic Sans MS" panose="030F0902030302020204" pitchFamily="66" charset="0"/>
              </a:rPr>
              <a:t> (Tables) and </a:t>
            </a:r>
            <a:r>
              <a:rPr lang="en-US" sz="1000" b="1" dirty="0">
                <a:latin typeface="Comic Sans MS" panose="030F0902030302020204" pitchFamily="66" charset="0"/>
              </a:rPr>
              <a:t>Relation</a:t>
            </a:r>
            <a:r>
              <a:rPr lang="en-US" sz="1000" dirty="0">
                <a:latin typeface="Comic Sans MS" panose="030F0902030302020204" pitchFamily="66" charset="0"/>
              </a:rPr>
              <a:t> </a:t>
            </a:r>
          </a:p>
          <a:p>
            <a:pPr marL="502920" lvl="1" indent="-228600">
              <a:buFont typeface="+mj-lt"/>
              <a:buAutoNum type="arabicPeriod"/>
            </a:pPr>
            <a:r>
              <a:rPr lang="en-US" sz="1000" dirty="0">
                <a:latin typeface="Comic Sans MS" panose="030F0902030302020204" pitchFamily="66" charset="0"/>
              </a:rPr>
              <a:t>Define the </a:t>
            </a:r>
            <a:r>
              <a:rPr lang="en-US" sz="1000" b="1" dirty="0">
                <a:latin typeface="Comic Sans MS" panose="030F0902030302020204" pitchFamily="66" charset="0"/>
              </a:rPr>
              <a:t>attributes</a:t>
            </a:r>
            <a:r>
              <a:rPr lang="en-US" sz="1000" dirty="0">
                <a:latin typeface="Comic Sans MS" panose="030F0902030302020204" pitchFamily="66" charset="0"/>
              </a:rPr>
              <a:t> and </a:t>
            </a:r>
            <a:r>
              <a:rPr lang="en-US" sz="1000" b="1" dirty="0">
                <a:latin typeface="Comic Sans MS" panose="030F0902030302020204" pitchFamily="66" charset="0"/>
              </a:rPr>
              <a:t>key attributes</a:t>
            </a:r>
          </a:p>
          <a:p>
            <a:pPr marL="502920" lvl="1" indent="-228600">
              <a:buFont typeface="+mj-lt"/>
              <a:buAutoNum type="arabicPeriod"/>
            </a:pPr>
            <a:r>
              <a:rPr lang="en-US" sz="1000" dirty="0">
                <a:latin typeface="Comic Sans MS" panose="030F0902030302020204" pitchFamily="66" charset="0"/>
              </a:rPr>
              <a:t>Define the </a:t>
            </a:r>
            <a:r>
              <a:rPr lang="en-US" sz="1000" b="1" dirty="0">
                <a:latin typeface="Comic Sans MS" panose="030F0902030302020204" pitchFamily="66" charset="0"/>
              </a:rPr>
              <a:t>multiplicity</a:t>
            </a:r>
          </a:p>
          <a:p>
            <a:pPr marL="502920" lvl="1" indent="-228600">
              <a:buFont typeface="+mj-lt"/>
              <a:buAutoNum type="arabicPeriod"/>
            </a:pPr>
            <a:r>
              <a:rPr lang="en-US" sz="1000" dirty="0">
                <a:latin typeface="Comic Sans MS" panose="030F0902030302020204" pitchFamily="66" charset="0"/>
              </a:rPr>
              <a:t>Define the </a:t>
            </a:r>
            <a:r>
              <a:rPr lang="en-US" sz="1000" b="1" dirty="0">
                <a:latin typeface="Comic Sans MS" panose="030F0902030302020204" pitchFamily="66" charset="0"/>
              </a:rPr>
              <a:t>cardinality</a:t>
            </a:r>
          </a:p>
          <a:p>
            <a:pPr marL="502920" lvl="1" indent="-228600">
              <a:buFont typeface="+mj-lt"/>
              <a:buAutoNum type="arabicPeriod"/>
            </a:pPr>
            <a:r>
              <a:rPr lang="en-US" sz="1000" dirty="0">
                <a:latin typeface="Comic Sans MS" panose="030F0902030302020204" pitchFamily="66" charset="0"/>
              </a:rPr>
              <a:t>Eliminate the </a:t>
            </a:r>
            <a:r>
              <a:rPr lang="en-US" sz="1000" b="1" dirty="0">
                <a:latin typeface="Comic Sans MS" panose="030F0902030302020204" pitchFamily="66" charset="0"/>
              </a:rPr>
              <a:t>redundancies</a:t>
            </a:r>
          </a:p>
          <a:p>
            <a:endParaRPr lang="en-US" sz="1200" dirty="0">
              <a:latin typeface="Comic Sans MS" panose="030F0902030302020204" pitchFamily="66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EA408E-393B-10A9-1683-66F5C2D14DBE}"/>
              </a:ext>
            </a:extLst>
          </p:cNvPr>
          <p:cNvSpPr/>
          <p:nvPr/>
        </p:nvSpPr>
        <p:spPr>
          <a:xfrm>
            <a:off x="2018996" y="4272077"/>
            <a:ext cx="724205" cy="5340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Person</a:t>
            </a:r>
          </a:p>
        </p:txBody>
      </p:sp>
      <p:sp>
        <p:nvSpPr>
          <p:cNvPr id="23" name="Diamond 22">
            <a:extLst>
              <a:ext uri="{FF2B5EF4-FFF2-40B4-BE49-F238E27FC236}">
                <a16:creationId xmlns:a16="http://schemas.microsoft.com/office/drawing/2014/main" id="{90310C9C-DD87-CEBA-66AE-175A6093A6BB}"/>
              </a:ext>
            </a:extLst>
          </p:cNvPr>
          <p:cNvSpPr/>
          <p:nvPr/>
        </p:nvSpPr>
        <p:spPr>
          <a:xfrm>
            <a:off x="3512210" y="4213555"/>
            <a:ext cx="790042" cy="651053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own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CA3C0F-8DD3-72C0-46F3-CBD410D26F7E}"/>
              </a:ext>
            </a:extLst>
          </p:cNvPr>
          <p:cNvSpPr/>
          <p:nvPr/>
        </p:nvSpPr>
        <p:spPr>
          <a:xfrm>
            <a:off x="5237635" y="4266671"/>
            <a:ext cx="724205" cy="5340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Car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A7BF5BD-DB61-C94F-D7E1-386C00B18216}"/>
              </a:ext>
            </a:extLst>
          </p:cNvPr>
          <p:cNvCxnSpPr>
            <a:stCxn id="22" idx="3"/>
            <a:endCxn id="23" idx="1"/>
          </p:cNvCxnSpPr>
          <p:nvPr/>
        </p:nvCxnSpPr>
        <p:spPr>
          <a:xfrm>
            <a:off x="2743201" y="4539082"/>
            <a:ext cx="7690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2A0580-8BD1-F733-9887-41BBCAA1404E}"/>
              </a:ext>
            </a:extLst>
          </p:cNvPr>
          <p:cNvCxnSpPr>
            <a:cxnSpLocks/>
            <a:stCxn id="23" idx="3"/>
            <a:endCxn id="26" idx="1"/>
          </p:cNvCxnSpPr>
          <p:nvPr/>
        </p:nvCxnSpPr>
        <p:spPr>
          <a:xfrm flipV="1">
            <a:off x="4302252" y="4533676"/>
            <a:ext cx="935383" cy="54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0832F9E-256F-FB0F-C7DB-42489EE0F38C}"/>
              </a:ext>
            </a:extLst>
          </p:cNvPr>
          <p:cNvCxnSpPr/>
          <p:nvPr/>
        </p:nvCxnSpPr>
        <p:spPr>
          <a:xfrm flipH="1">
            <a:off x="1931213" y="4806087"/>
            <a:ext cx="202387" cy="4535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Connector 33">
            <a:extLst>
              <a:ext uri="{FF2B5EF4-FFF2-40B4-BE49-F238E27FC236}">
                <a16:creationId xmlns:a16="http://schemas.microsoft.com/office/drawing/2014/main" id="{63C2B307-EFD6-F9E2-B731-F5162144B834}"/>
              </a:ext>
            </a:extLst>
          </p:cNvPr>
          <p:cNvSpPr/>
          <p:nvPr/>
        </p:nvSpPr>
        <p:spPr>
          <a:xfrm>
            <a:off x="1894241" y="5234115"/>
            <a:ext cx="73151" cy="110876"/>
          </a:xfrm>
          <a:prstGeom prst="flowChartConnector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onnector 35">
            <a:extLst>
              <a:ext uri="{FF2B5EF4-FFF2-40B4-BE49-F238E27FC236}">
                <a16:creationId xmlns:a16="http://schemas.microsoft.com/office/drawing/2014/main" id="{98CDC1C8-2D01-3726-8548-95B06A5219AF}"/>
              </a:ext>
            </a:extLst>
          </p:cNvPr>
          <p:cNvSpPr/>
          <p:nvPr/>
        </p:nvSpPr>
        <p:spPr>
          <a:xfrm>
            <a:off x="2478183" y="5285026"/>
            <a:ext cx="73151" cy="110876"/>
          </a:xfrm>
          <a:prstGeom prst="flowChartConnector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onnector 36">
            <a:extLst>
              <a:ext uri="{FF2B5EF4-FFF2-40B4-BE49-F238E27FC236}">
                <a16:creationId xmlns:a16="http://schemas.microsoft.com/office/drawing/2014/main" id="{4B503699-6C64-D93F-CD86-D48FC413CAF8}"/>
              </a:ext>
            </a:extLst>
          </p:cNvPr>
          <p:cNvSpPr/>
          <p:nvPr/>
        </p:nvSpPr>
        <p:spPr>
          <a:xfrm>
            <a:off x="1664909" y="4264187"/>
            <a:ext cx="73151" cy="110876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onnector 37">
            <a:extLst>
              <a:ext uri="{FF2B5EF4-FFF2-40B4-BE49-F238E27FC236}">
                <a16:creationId xmlns:a16="http://schemas.microsoft.com/office/drawing/2014/main" id="{0EB3CE95-99BA-5C6C-6B95-089E399C6C90}"/>
              </a:ext>
            </a:extLst>
          </p:cNvPr>
          <p:cNvSpPr/>
          <p:nvPr/>
        </p:nvSpPr>
        <p:spPr>
          <a:xfrm>
            <a:off x="5267850" y="5288890"/>
            <a:ext cx="73151" cy="110876"/>
          </a:xfrm>
          <a:prstGeom prst="flowChartConnector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Connector 38">
            <a:extLst>
              <a:ext uri="{FF2B5EF4-FFF2-40B4-BE49-F238E27FC236}">
                <a16:creationId xmlns:a16="http://schemas.microsoft.com/office/drawing/2014/main" id="{AE8FFD12-78E5-9A90-5266-68FCE31A0119}"/>
              </a:ext>
            </a:extLst>
          </p:cNvPr>
          <p:cNvSpPr/>
          <p:nvPr/>
        </p:nvSpPr>
        <p:spPr>
          <a:xfrm>
            <a:off x="5984940" y="5339795"/>
            <a:ext cx="73151" cy="110876"/>
          </a:xfrm>
          <a:prstGeom prst="flowChartConnector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626A086-BCEB-A8C9-2214-51090394221B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2381099" y="4806087"/>
            <a:ext cx="111776" cy="4834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E19B0DE-91F7-7FBC-AC4A-598A013B9F3E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1701485" y="4319625"/>
            <a:ext cx="317511" cy="2194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67762EA-14FC-13E3-2365-21D0E90E3BF3}"/>
              </a:ext>
            </a:extLst>
          </p:cNvPr>
          <p:cNvCxnSpPr>
            <a:cxnSpLocks/>
          </p:cNvCxnSpPr>
          <p:nvPr/>
        </p:nvCxnSpPr>
        <p:spPr>
          <a:xfrm flipH="1">
            <a:off x="5304426" y="4800681"/>
            <a:ext cx="131171" cy="5064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3E8E98-E2F4-003A-F2FA-ADCDECA6C67D}"/>
              </a:ext>
            </a:extLst>
          </p:cNvPr>
          <p:cNvCxnSpPr>
            <a:cxnSpLocks/>
          </p:cNvCxnSpPr>
          <p:nvPr/>
        </p:nvCxnSpPr>
        <p:spPr>
          <a:xfrm>
            <a:off x="5819421" y="4816001"/>
            <a:ext cx="183499" cy="5244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3EA01D87-5193-90C9-9F35-45DFFF89AE89}"/>
              </a:ext>
            </a:extLst>
          </p:cNvPr>
          <p:cNvSpPr txBox="1"/>
          <p:nvPr/>
        </p:nvSpPr>
        <p:spPr>
          <a:xfrm>
            <a:off x="1140774" y="4007574"/>
            <a:ext cx="7900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latin typeface="Comic Sans MS" panose="030F0902030302020204" pitchFamily="66" charset="0"/>
              </a:rPr>
              <a:t>IDPerson</a:t>
            </a:r>
            <a:endParaRPr lang="en-US" sz="1000" dirty="0">
              <a:latin typeface="Comic Sans MS" panose="030F0902030302020204" pitchFamily="66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033417E-63EE-12D1-0A70-E2E24A79FA91}"/>
              </a:ext>
            </a:extLst>
          </p:cNvPr>
          <p:cNvSpPr txBox="1"/>
          <p:nvPr/>
        </p:nvSpPr>
        <p:spPr>
          <a:xfrm>
            <a:off x="1323313" y="5416226"/>
            <a:ext cx="10129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mic Sans MS" panose="030F0902030302020204" pitchFamily="66" charset="0"/>
              </a:rPr>
              <a:t>First Name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BA41E92-38F8-4926-A36F-6ACEFD853115}"/>
              </a:ext>
            </a:extLst>
          </p:cNvPr>
          <p:cNvSpPr txBox="1"/>
          <p:nvPr/>
        </p:nvSpPr>
        <p:spPr>
          <a:xfrm>
            <a:off x="2298177" y="5429388"/>
            <a:ext cx="10129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mic Sans MS" panose="030F0902030302020204" pitchFamily="66" charset="0"/>
              </a:rPr>
              <a:t>Family Name</a:t>
            </a:r>
          </a:p>
        </p:txBody>
      </p:sp>
      <p:sp>
        <p:nvSpPr>
          <p:cNvPr id="54" name="Connector 53">
            <a:extLst>
              <a:ext uri="{FF2B5EF4-FFF2-40B4-BE49-F238E27FC236}">
                <a16:creationId xmlns:a16="http://schemas.microsoft.com/office/drawing/2014/main" id="{CCFADCAB-287A-1C25-8EBE-1D3699BE6DE0}"/>
              </a:ext>
            </a:extLst>
          </p:cNvPr>
          <p:cNvSpPr/>
          <p:nvPr/>
        </p:nvSpPr>
        <p:spPr>
          <a:xfrm>
            <a:off x="6238646" y="4133809"/>
            <a:ext cx="73151" cy="110876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5B5C874-5849-DCF0-07BB-E9E52795B1BA}"/>
              </a:ext>
            </a:extLst>
          </p:cNvPr>
          <p:cNvCxnSpPr>
            <a:cxnSpLocks/>
          </p:cNvCxnSpPr>
          <p:nvPr/>
        </p:nvCxnSpPr>
        <p:spPr>
          <a:xfrm flipH="1">
            <a:off x="5963106" y="4209418"/>
            <a:ext cx="280936" cy="2199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0E02F2D5-12FD-2EBA-D012-8116E4367094}"/>
              </a:ext>
            </a:extLst>
          </p:cNvPr>
          <p:cNvSpPr txBox="1"/>
          <p:nvPr/>
        </p:nvSpPr>
        <p:spPr>
          <a:xfrm>
            <a:off x="4964251" y="5435032"/>
            <a:ext cx="6803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mic Sans MS" panose="030F0902030302020204" pitchFamily="66" charset="0"/>
              </a:rPr>
              <a:t>Model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7550C60-0DD6-8D1E-6073-28D4CFDE0CC1}"/>
              </a:ext>
            </a:extLst>
          </p:cNvPr>
          <p:cNvSpPr txBox="1"/>
          <p:nvPr/>
        </p:nvSpPr>
        <p:spPr>
          <a:xfrm>
            <a:off x="5946775" y="5484811"/>
            <a:ext cx="6803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mic Sans MS" panose="030F0902030302020204" pitchFamily="66" charset="0"/>
              </a:rPr>
              <a:t>Brand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6358197-6BFC-6FBC-464F-2E2641E5A7E6}"/>
              </a:ext>
            </a:extLst>
          </p:cNvPr>
          <p:cNvSpPr txBox="1"/>
          <p:nvPr/>
        </p:nvSpPr>
        <p:spPr>
          <a:xfrm>
            <a:off x="6326283" y="3884463"/>
            <a:ext cx="680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mic Sans MS" panose="030F0902030302020204" pitchFamily="66" charset="0"/>
              </a:rPr>
              <a:t>License Plate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2B50057-4C44-1969-DC89-D0DEFFEC9BBE}"/>
              </a:ext>
            </a:extLst>
          </p:cNvPr>
          <p:cNvSpPr txBox="1"/>
          <p:nvPr/>
        </p:nvSpPr>
        <p:spPr>
          <a:xfrm>
            <a:off x="2700192" y="4257118"/>
            <a:ext cx="5447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mic Sans MS" panose="030F0902030302020204" pitchFamily="66" charset="0"/>
              </a:rPr>
              <a:t>(0,N)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C7E83F9-DA94-87F5-2434-49042F895B43}"/>
              </a:ext>
            </a:extLst>
          </p:cNvPr>
          <p:cNvSpPr txBox="1"/>
          <p:nvPr/>
        </p:nvSpPr>
        <p:spPr>
          <a:xfrm>
            <a:off x="4786567" y="4264187"/>
            <a:ext cx="5447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mic Sans MS" panose="030F0902030302020204" pitchFamily="66" charset="0"/>
              </a:rPr>
              <a:t>(1,1)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7275464-4F84-285D-6602-5FBA90EDD32A}"/>
              </a:ext>
            </a:extLst>
          </p:cNvPr>
          <p:cNvSpPr txBox="1"/>
          <p:nvPr/>
        </p:nvSpPr>
        <p:spPr>
          <a:xfrm>
            <a:off x="2069154" y="3965548"/>
            <a:ext cx="6803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  <a:latin typeface="Comic Sans MS" panose="030F0902030302020204" pitchFamily="66" charset="0"/>
              </a:rPr>
              <a:t>Entity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19F5D46-1798-3859-1F64-03A4B3E2E863}"/>
              </a:ext>
            </a:extLst>
          </p:cNvPr>
          <p:cNvSpPr txBox="1"/>
          <p:nvPr/>
        </p:nvSpPr>
        <p:spPr>
          <a:xfrm>
            <a:off x="3561169" y="3860594"/>
            <a:ext cx="6803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  <a:latin typeface="Comic Sans MS" panose="030F0902030302020204" pitchFamily="66" charset="0"/>
              </a:rPr>
              <a:t>Relation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21A95E4-E262-2A50-0DFF-CA0F41C8BEA7}"/>
              </a:ext>
            </a:extLst>
          </p:cNvPr>
          <p:cNvSpPr txBox="1"/>
          <p:nvPr/>
        </p:nvSpPr>
        <p:spPr>
          <a:xfrm>
            <a:off x="5848116" y="5642061"/>
            <a:ext cx="8542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  <a:latin typeface="Comic Sans MS" panose="030F0902030302020204" pitchFamily="66" charset="0"/>
              </a:rPr>
              <a:t>Attribute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53DB783-A7A6-9357-2586-6A265228563B}"/>
              </a:ext>
            </a:extLst>
          </p:cNvPr>
          <p:cNvSpPr txBox="1"/>
          <p:nvPr/>
        </p:nvSpPr>
        <p:spPr>
          <a:xfrm>
            <a:off x="5834863" y="3667570"/>
            <a:ext cx="11253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  <a:latin typeface="Comic Sans MS" panose="030F0902030302020204" pitchFamily="66" charset="0"/>
              </a:rPr>
              <a:t>Key Attribute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85BF5FA-2EF8-FC8E-7C93-D2A1ACF8E0A5}"/>
              </a:ext>
            </a:extLst>
          </p:cNvPr>
          <p:cNvSpPr txBox="1"/>
          <p:nvPr/>
        </p:nvSpPr>
        <p:spPr>
          <a:xfrm>
            <a:off x="2652724" y="4041712"/>
            <a:ext cx="10000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  <a:latin typeface="Comic Sans MS" panose="030F0902030302020204" pitchFamily="66" charset="0"/>
              </a:rPr>
              <a:t>Multiplicity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35137C0-6060-80B3-ACD6-6AE41F31F2FD}"/>
              </a:ext>
            </a:extLst>
          </p:cNvPr>
          <p:cNvSpPr txBox="1"/>
          <p:nvPr/>
        </p:nvSpPr>
        <p:spPr>
          <a:xfrm>
            <a:off x="3691840" y="4924709"/>
            <a:ext cx="5447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mic Sans MS" panose="030F0902030302020204" pitchFamily="66" charset="0"/>
              </a:rPr>
              <a:t>(1,N)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63FB307-6F5F-A81E-8523-1A22EA50F492}"/>
              </a:ext>
            </a:extLst>
          </p:cNvPr>
          <p:cNvSpPr txBox="1"/>
          <p:nvPr/>
        </p:nvSpPr>
        <p:spPr>
          <a:xfrm>
            <a:off x="3500857" y="5115757"/>
            <a:ext cx="8613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  <a:latin typeface="Comic Sans MS" panose="030F0902030302020204" pitchFamily="66" charset="0"/>
              </a:rPr>
              <a:t>Cardinality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203A877-7C7B-A4AC-21F9-BD2873496A10}"/>
              </a:ext>
            </a:extLst>
          </p:cNvPr>
          <p:cNvSpPr txBox="1"/>
          <p:nvPr/>
        </p:nvSpPr>
        <p:spPr>
          <a:xfrm>
            <a:off x="4451101" y="4081505"/>
            <a:ext cx="10000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  <a:latin typeface="Comic Sans MS" panose="030F0902030302020204" pitchFamily="66" charset="0"/>
              </a:rPr>
              <a:t>Multiplicity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7F62211-3592-EA68-3F13-67712DA3FB25}"/>
              </a:ext>
            </a:extLst>
          </p:cNvPr>
          <p:cNvSpPr txBox="1"/>
          <p:nvPr/>
        </p:nvSpPr>
        <p:spPr>
          <a:xfrm>
            <a:off x="7185660" y="885983"/>
            <a:ext cx="4879285" cy="478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00" dirty="0">
                <a:solidFill>
                  <a:schemeClr val="accent1"/>
                </a:solidFill>
                <a:latin typeface="Comic Sans MS" panose="030F0902030302020204" pitchFamily="66" charset="0"/>
              </a:rPr>
              <a:t>Attribute</a:t>
            </a:r>
            <a:r>
              <a:rPr lang="en-US" sz="1000" dirty="0">
                <a:latin typeface="Comic Sans MS" panose="030F0902030302020204" pitchFamily="66" charset="0"/>
              </a:rPr>
              <a:t> = Characteristics that describe the entity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solidFill>
                  <a:schemeClr val="accent1"/>
                </a:solidFill>
                <a:latin typeface="Comic Sans MS" panose="030F0902030302020204" pitchFamily="66" charset="0"/>
              </a:rPr>
              <a:t>Key attribute </a:t>
            </a:r>
            <a:r>
              <a:rPr lang="en-US" sz="1000" dirty="0">
                <a:latin typeface="Comic Sans MS" panose="030F0902030302020204" pitchFamily="66" charset="0"/>
              </a:rPr>
              <a:t>= </a:t>
            </a:r>
            <a:r>
              <a:rPr lang="en-GB" sz="1000" dirty="0">
                <a:latin typeface="Comic Sans MS" panose="030F0902030302020204" pitchFamily="66" charset="0"/>
              </a:rPr>
              <a:t>Uniquely identify entity instances.</a:t>
            </a:r>
            <a:endParaRPr lang="en-US" sz="1000" dirty="0">
              <a:latin typeface="Comic Sans MS" panose="030F0902030302020204" pitchFamily="66" charset="0"/>
            </a:endParaRPr>
          </a:p>
          <a:p>
            <a:pPr>
              <a:lnSpc>
                <a:spcPct val="150000"/>
              </a:lnSpc>
            </a:pPr>
            <a:r>
              <a:rPr lang="en-US" sz="1000" dirty="0">
                <a:solidFill>
                  <a:schemeClr val="accent1"/>
                </a:solidFill>
                <a:latin typeface="Comic Sans MS" panose="030F0902030302020204" pitchFamily="66" charset="0"/>
              </a:rPr>
              <a:t>Instance</a:t>
            </a:r>
            <a:r>
              <a:rPr lang="en-US" sz="1000" dirty="0">
                <a:latin typeface="Comic Sans MS" panose="030F0902030302020204" pitchFamily="66" charset="0"/>
              </a:rPr>
              <a:t> = A row in the table (logical model)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solidFill>
                  <a:schemeClr val="accent1"/>
                </a:solidFill>
                <a:latin typeface="Comic Sans MS" panose="030F0902030302020204" pitchFamily="66" charset="0"/>
              </a:rPr>
              <a:t>Cardinality </a:t>
            </a:r>
            <a:r>
              <a:rPr lang="en-US" sz="1000" dirty="0">
                <a:latin typeface="Comic Sans MS" panose="030F0902030302020204" pitchFamily="66" charset="0"/>
              </a:rPr>
              <a:t>and </a:t>
            </a:r>
            <a:r>
              <a:rPr lang="en-US" sz="1000" dirty="0">
                <a:solidFill>
                  <a:schemeClr val="accent1"/>
                </a:solidFill>
                <a:latin typeface="Comic Sans MS" panose="030F0902030302020204" pitchFamily="66" charset="0"/>
              </a:rPr>
              <a:t>Multiplicity</a:t>
            </a:r>
            <a:r>
              <a:rPr lang="en-US" sz="1000" dirty="0">
                <a:latin typeface="Comic Sans MS" panose="030F0902030302020204" pitchFamily="66" charset="0"/>
              </a:rPr>
              <a:t>= describe a numerical relationship between entities. They are closely related concept but used slightly different.</a:t>
            </a:r>
          </a:p>
          <a:p>
            <a:pPr>
              <a:lnSpc>
                <a:spcPct val="150000"/>
              </a:lnSpc>
            </a:pPr>
            <a:endParaRPr lang="en-GB" sz="1000" dirty="0">
              <a:solidFill>
                <a:srgbClr val="000000"/>
              </a:solidFill>
              <a:latin typeface="-webkit-standard"/>
            </a:endParaRPr>
          </a:p>
          <a:p>
            <a:pPr>
              <a:lnSpc>
                <a:spcPct val="150000"/>
              </a:lnSpc>
            </a:pPr>
            <a:r>
              <a:rPr lang="en-US" sz="1000" dirty="0">
                <a:solidFill>
                  <a:schemeClr val="accent1"/>
                </a:solidFill>
                <a:latin typeface="Comic Sans MS" panose="030F0902030302020204" pitchFamily="66" charset="0"/>
              </a:rPr>
              <a:t>Multiplicity</a:t>
            </a:r>
            <a:r>
              <a:rPr lang="en-GB" sz="1000" dirty="0">
                <a:solidFill>
                  <a:srgbClr val="000000"/>
                </a:solidFill>
                <a:latin typeface="-webkit-standard"/>
              </a:rPr>
              <a:t> = </a:t>
            </a:r>
            <a:r>
              <a:rPr lang="en-GB" sz="1000" dirty="0">
                <a:latin typeface="Comic Sans MS" panose="030F0902030302020204" pitchFamily="66" charset="0"/>
              </a:rPr>
              <a:t>Multiplicity specifies the minimum and maximum number of allowed instances in a relationship.</a:t>
            </a:r>
          </a:p>
          <a:p>
            <a:pPr>
              <a:lnSpc>
                <a:spcPct val="150000"/>
              </a:lnSpc>
            </a:pPr>
            <a:endParaRPr lang="en-GB" sz="1000" dirty="0">
              <a:latin typeface="Comic Sans MS" panose="030F0902030302020204" pitchFamily="66" charset="0"/>
            </a:endParaRPr>
          </a:p>
          <a:p>
            <a:pPr>
              <a:lnSpc>
                <a:spcPct val="150000"/>
              </a:lnSpc>
            </a:pPr>
            <a:r>
              <a:rPr lang="en-US" sz="1000" dirty="0">
                <a:solidFill>
                  <a:schemeClr val="accent1"/>
                </a:solidFill>
                <a:latin typeface="Comic Sans MS" panose="030F0902030302020204" pitchFamily="66" charset="0"/>
              </a:rPr>
              <a:t>Cardinality = </a:t>
            </a:r>
            <a:r>
              <a:rPr lang="en-GB" sz="1000" dirty="0">
                <a:latin typeface="Comic Sans MS" panose="030F0902030302020204" pitchFamily="66" charset="0"/>
              </a:rPr>
              <a:t>defines how many instances of one entity can or must be associated with instances of another entity. It is derived from the Multiplicity</a:t>
            </a:r>
          </a:p>
          <a:p>
            <a:pPr>
              <a:lnSpc>
                <a:spcPct val="150000"/>
              </a:lnSpc>
            </a:pPr>
            <a:endParaRPr lang="en-GB" sz="1000" dirty="0">
              <a:latin typeface="Comic Sans MS" panose="030F0902030302020204" pitchFamily="66" charset="0"/>
            </a:endParaRPr>
          </a:p>
          <a:p>
            <a:pPr>
              <a:lnSpc>
                <a:spcPct val="150000"/>
              </a:lnSpc>
            </a:pPr>
            <a:endParaRPr lang="en-US" sz="1000" dirty="0">
              <a:latin typeface="Comic Sans MS" panose="030F0902030302020204" pitchFamily="66" charset="0"/>
            </a:endParaRPr>
          </a:p>
          <a:p>
            <a:endParaRPr lang="en-US" sz="1000" dirty="0">
              <a:latin typeface="Comic Sans MS" panose="030F0902030302020204" pitchFamily="66" charset="0"/>
            </a:endParaRPr>
          </a:p>
          <a:p>
            <a:endParaRPr lang="en-US" sz="1000" dirty="0">
              <a:latin typeface="Comic Sans MS" panose="030F0902030302020204" pitchFamily="66" charset="0"/>
            </a:endParaRPr>
          </a:p>
          <a:p>
            <a:endParaRPr lang="en-US" sz="1000" dirty="0">
              <a:latin typeface="Comic Sans MS" panose="030F0902030302020204" pitchFamily="66" charset="0"/>
            </a:endParaRPr>
          </a:p>
          <a:p>
            <a:endParaRPr lang="en-US" sz="1000" dirty="0">
              <a:latin typeface="Comic Sans MS" panose="030F0902030302020204" pitchFamily="66" charset="0"/>
            </a:endParaRPr>
          </a:p>
          <a:p>
            <a:endParaRPr lang="en-US" sz="1000" dirty="0">
              <a:latin typeface="Comic Sans MS" panose="030F0902030302020204" pitchFamily="66" charset="0"/>
            </a:endParaRPr>
          </a:p>
          <a:p>
            <a:endParaRPr lang="en-US" sz="1000" dirty="0">
              <a:latin typeface="Comic Sans MS" panose="030F0902030302020204" pitchFamily="66" charset="0"/>
            </a:endParaRPr>
          </a:p>
          <a:p>
            <a:endParaRPr lang="en-US" sz="1000" dirty="0">
              <a:latin typeface="Comic Sans MS" panose="030F0902030302020204" pitchFamily="66" charset="0"/>
            </a:endParaRPr>
          </a:p>
          <a:p>
            <a:endParaRPr lang="en-US" sz="1000" dirty="0">
              <a:latin typeface="Comic Sans MS" panose="030F0902030302020204" pitchFamily="66" charset="0"/>
            </a:endParaRPr>
          </a:p>
          <a:p>
            <a:endParaRPr lang="en-US" sz="1000" dirty="0">
              <a:latin typeface="Comic Sans MS" panose="030F0902030302020204" pitchFamily="66" charset="0"/>
            </a:endParaRPr>
          </a:p>
          <a:p>
            <a:endParaRPr lang="en-US" sz="1000" dirty="0">
              <a:latin typeface="Comic Sans MS" panose="030F0902030302020204" pitchFamily="66" charset="0"/>
            </a:endParaRPr>
          </a:p>
          <a:p>
            <a:r>
              <a:rPr lang="en-US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48398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25DBD-922C-8444-394F-5F4AF0592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77" y="213326"/>
            <a:ext cx="7071360" cy="1077916"/>
          </a:xfrm>
        </p:spPr>
        <p:txBody>
          <a:bodyPr>
            <a:normAutofit fontScale="90000"/>
          </a:bodyPr>
          <a:lstStyle/>
          <a:p>
            <a:r>
              <a:rPr lang="en-US" dirty="0"/>
              <a:t>Conceptual Model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Cardinality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860CFCD-4908-D893-440C-07785ABB6F42}"/>
              </a:ext>
            </a:extLst>
          </p:cNvPr>
          <p:cNvGrpSpPr/>
          <p:nvPr/>
        </p:nvGrpSpPr>
        <p:grpSpPr>
          <a:xfrm>
            <a:off x="2832414" y="2074990"/>
            <a:ext cx="5865856" cy="2220712"/>
            <a:chOff x="1140774" y="3667570"/>
            <a:chExt cx="5865856" cy="2220712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3EA408E-393B-10A9-1683-66F5C2D14DBE}"/>
                </a:ext>
              </a:extLst>
            </p:cNvPr>
            <p:cNvSpPr/>
            <p:nvPr/>
          </p:nvSpPr>
          <p:spPr>
            <a:xfrm>
              <a:off x="2018996" y="4272077"/>
              <a:ext cx="724205" cy="53401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Person</a:t>
              </a:r>
            </a:p>
          </p:txBody>
        </p:sp>
        <p:sp>
          <p:nvSpPr>
            <p:cNvPr id="23" name="Diamond 22">
              <a:extLst>
                <a:ext uri="{FF2B5EF4-FFF2-40B4-BE49-F238E27FC236}">
                  <a16:creationId xmlns:a16="http://schemas.microsoft.com/office/drawing/2014/main" id="{90310C9C-DD87-CEBA-66AE-175A6093A6BB}"/>
                </a:ext>
              </a:extLst>
            </p:cNvPr>
            <p:cNvSpPr/>
            <p:nvPr/>
          </p:nvSpPr>
          <p:spPr>
            <a:xfrm>
              <a:off x="3512210" y="4213555"/>
              <a:ext cx="790042" cy="651053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own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FCA3C0F-8DD3-72C0-46F3-CBD410D26F7E}"/>
                </a:ext>
              </a:extLst>
            </p:cNvPr>
            <p:cNvSpPr/>
            <p:nvPr/>
          </p:nvSpPr>
          <p:spPr>
            <a:xfrm>
              <a:off x="5237635" y="4266671"/>
              <a:ext cx="724205" cy="53401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Car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A7BF5BD-DB61-C94F-D7E1-386C00B18216}"/>
                </a:ext>
              </a:extLst>
            </p:cNvPr>
            <p:cNvCxnSpPr>
              <a:stCxn id="22" idx="3"/>
              <a:endCxn id="23" idx="1"/>
            </p:cNvCxnSpPr>
            <p:nvPr/>
          </p:nvCxnSpPr>
          <p:spPr>
            <a:xfrm>
              <a:off x="2743201" y="4539082"/>
              <a:ext cx="76900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72A0580-8BD1-F733-9887-41BBCAA1404E}"/>
                </a:ext>
              </a:extLst>
            </p:cNvPr>
            <p:cNvCxnSpPr>
              <a:cxnSpLocks/>
              <a:stCxn id="23" idx="3"/>
              <a:endCxn id="26" idx="1"/>
            </p:cNvCxnSpPr>
            <p:nvPr/>
          </p:nvCxnSpPr>
          <p:spPr>
            <a:xfrm flipV="1">
              <a:off x="4302252" y="4533676"/>
              <a:ext cx="935383" cy="540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0832F9E-256F-FB0F-C7DB-42489EE0F38C}"/>
                </a:ext>
              </a:extLst>
            </p:cNvPr>
            <p:cNvCxnSpPr/>
            <p:nvPr/>
          </p:nvCxnSpPr>
          <p:spPr>
            <a:xfrm flipH="1">
              <a:off x="1931213" y="4806087"/>
              <a:ext cx="202387" cy="45354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Connector 33">
              <a:extLst>
                <a:ext uri="{FF2B5EF4-FFF2-40B4-BE49-F238E27FC236}">
                  <a16:creationId xmlns:a16="http://schemas.microsoft.com/office/drawing/2014/main" id="{63C2B307-EFD6-F9E2-B731-F5162144B834}"/>
                </a:ext>
              </a:extLst>
            </p:cNvPr>
            <p:cNvSpPr/>
            <p:nvPr/>
          </p:nvSpPr>
          <p:spPr>
            <a:xfrm>
              <a:off x="1894241" y="5234115"/>
              <a:ext cx="73151" cy="110876"/>
            </a:xfrm>
            <a:prstGeom prst="flowChartConnector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Connector 35">
              <a:extLst>
                <a:ext uri="{FF2B5EF4-FFF2-40B4-BE49-F238E27FC236}">
                  <a16:creationId xmlns:a16="http://schemas.microsoft.com/office/drawing/2014/main" id="{98CDC1C8-2D01-3726-8548-95B06A5219AF}"/>
                </a:ext>
              </a:extLst>
            </p:cNvPr>
            <p:cNvSpPr/>
            <p:nvPr/>
          </p:nvSpPr>
          <p:spPr>
            <a:xfrm>
              <a:off x="2478183" y="5285026"/>
              <a:ext cx="73151" cy="110876"/>
            </a:xfrm>
            <a:prstGeom prst="flowChartConnector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Connector 36">
              <a:extLst>
                <a:ext uri="{FF2B5EF4-FFF2-40B4-BE49-F238E27FC236}">
                  <a16:creationId xmlns:a16="http://schemas.microsoft.com/office/drawing/2014/main" id="{4B503699-6C64-D93F-CD86-D48FC413CAF8}"/>
                </a:ext>
              </a:extLst>
            </p:cNvPr>
            <p:cNvSpPr/>
            <p:nvPr/>
          </p:nvSpPr>
          <p:spPr>
            <a:xfrm>
              <a:off x="1664909" y="4264187"/>
              <a:ext cx="73151" cy="110876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Connector 37">
              <a:extLst>
                <a:ext uri="{FF2B5EF4-FFF2-40B4-BE49-F238E27FC236}">
                  <a16:creationId xmlns:a16="http://schemas.microsoft.com/office/drawing/2014/main" id="{0EB3CE95-99BA-5C6C-6B95-089E399C6C90}"/>
                </a:ext>
              </a:extLst>
            </p:cNvPr>
            <p:cNvSpPr/>
            <p:nvPr/>
          </p:nvSpPr>
          <p:spPr>
            <a:xfrm>
              <a:off x="5267850" y="5288890"/>
              <a:ext cx="73151" cy="110876"/>
            </a:xfrm>
            <a:prstGeom prst="flowChartConnector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Connector 38">
              <a:extLst>
                <a:ext uri="{FF2B5EF4-FFF2-40B4-BE49-F238E27FC236}">
                  <a16:creationId xmlns:a16="http://schemas.microsoft.com/office/drawing/2014/main" id="{AE8FFD12-78E5-9A90-5266-68FCE31A0119}"/>
                </a:ext>
              </a:extLst>
            </p:cNvPr>
            <p:cNvSpPr/>
            <p:nvPr/>
          </p:nvSpPr>
          <p:spPr>
            <a:xfrm>
              <a:off x="5984940" y="5339795"/>
              <a:ext cx="73151" cy="110876"/>
            </a:xfrm>
            <a:prstGeom prst="flowChartConnector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626A086-BCEB-A8C9-2214-51090394221B}"/>
                </a:ext>
              </a:extLst>
            </p:cNvPr>
            <p:cNvCxnSpPr>
              <a:cxnSpLocks/>
              <a:stCxn id="22" idx="2"/>
            </p:cNvCxnSpPr>
            <p:nvPr/>
          </p:nvCxnSpPr>
          <p:spPr>
            <a:xfrm>
              <a:off x="2381099" y="4806087"/>
              <a:ext cx="111776" cy="48346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E19B0DE-91F7-7FBC-AC4A-598A013B9F3E}"/>
                </a:ext>
              </a:extLst>
            </p:cNvPr>
            <p:cNvCxnSpPr>
              <a:cxnSpLocks/>
              <a:stCxn id="22" idx="1"/>
            </p:cNvCxnSpPr>
            <p:nvPr/>
          </p:nvCxnSpPr>
          <p:spPr>
            <a:xfrm flipH="1" flipV="1">
              <a:off x="1701485" y="4319625"/>
              <a:ext cx="317511" cy="21945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67762EA-14FC-13E3-2365-21D0E90E3B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04426" y="4800681"/>
              <a:ext cx="131171" cy="50649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53E8E98-E2F4-003A-F2FA-ADCDECA6C67D}"/>
                </a:ext>
              </a:extLst>
            </p:cNvPr>
            <p:cNvCxnSpPr>
              <a:cxnSpLocks/>
            </p:cNvCxnSpPr>
            <p:nvPr/>
          </p:nvCxnSpPr>
          <p:spPr>
            <a:xfrm>
              <a:off x="5819421" y="4816001"/>
              <a:ext cx="183499" cy="52446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EA01D87-5193-90C9-9F35-45DFFF89AE89}"/>
                </a:ext>
              </a:extLst>
            </p:cNvPr>
            <p:cNvSpPr txBox="1"/>
            <p:nvPr/>
          </p:nvSpPr>
          <p:spPr>
            <a:xfrm>
              <a:off x="1140774" y="4007574"/>
              <a:ext cx="7900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Comic Sans MS" panose="030F0902030302020204" pitchFamily="66" charset="0"/>
                </a:rPr>
                <a:t>IDPerson</a:t>
              </a:r>
              <a:endParaRPr lang="en-US" sz="1000" dirty="0">
                <a:latin typeface="Comic Sans MS" panose="030F0902030302020204" pitchFamily="66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033417E-63EE-12D1-0A70-E2E24A79FA91}"/>
                </a:ext>
              </a:extLst>
            </p:cNvPr>
            <p:cNvSpPr txBox="1"/>
            <p:nvPr/>
          </p:nvSpPr>
          <p:spPr>
            <a:xfrm>
              <a:off x="1323313" y="5416226"/>
              <a:ext cx="10129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omic Sans MS" panose="030F0902030302020204" pitchFamily="66" charset="0"/>
                </a:rPr>
                <a:t>First Name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BA41E92-38F8-4926-A36F-6ACEFD853115}"/>
                </a:ext>
              </a:extLst>
            </p:cNvPr>
            <p:cNvSpPr txBox="1"/>
            <p:nvPr/>
          </p:nvSpPr>
          <p:spPr>
            <a:xfrm>
              <a:off x="2298177" y="5429388"/>
              <a:ext cx="10129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omic Sans MS" panose="030F0902030302020204" pitchFamily="66" charset="0"/>
                </a:rPr>
                <a:t>Family Name</a:t>
              </a:r>
            </a:p>
          </p:txBody>
        </p:sp>
        <p:sp>
          <p:nvSpPr>
            <p:cNvPr id="54" name="Connector 53">
              <a:extLst>
                <a:ext uri="{FF2B5EF4-FFF2-40B4-BE49-F238E27FC236}">
                  <a16:creationId xmlns:a16="http://schemas.microsoft.com/office/drawing/2014/main" id="{CCFADCAB-287A-1C25-8EBE-1D3699BE6DE0}"/>
                </a:ext>
              </a:extLst>
            </p:cNvPr>
            <p:cNvSpPr/>
            <p:nvPr/>
          </p:nvSpPr>
          <p:spPr>
            <a:xfrm>
              <a:off x="6238646" y="4133809"/>
              <a:ext cx="73151" cy="110876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5B5C874-5849-DCF0-07BB-E9E52795B1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63106" y="4209418"/>
              <a:ext cx="280936" cy="21993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E02F2D5-12FD-2EBA-D012-8116E4367094}"/>
                </a:ext>
              </a:extLst>
            </p:cNvPr>
            <p:cNvSpPr txBox="1"/>
            <p:nvPr/>
          </p:nvSpPr>
          <p:spPr>
            <a:xfrm>
              <a:off x="4964251" y="5435032"/>
              <a:ext cx="68034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omic Sans MS" panose="030F0902030302020204" pitchFamily="66" charset="0"/>
                </a:rPr>
                <a:t>Model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7550C60-0DD6-8D1E-6073-28D4CFDE0CC1}"/>
                </a:ext>
              </a:extLst>
            </p:cNvPr>
            <p:cNvSpPr txBox="1"/>
            <p:nvPr/>
          </p:nvSpPr>
          <p:spPr>
            <a:xfrm>
              <a:off x="5946775" y="5484811"/>
              <a:ext cx="68034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omic Sans MS" panose="030F0902030302020204" pitchFamily="66" charset="0"/>
                </a:rPr>
                <a:t>Brand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6358197-6BFC-6FBC-464F-2E2641E5A7E6}"/>
                </a:ext>
              </a:extLst>
            </p:cNvPr>
            <p:cNvSpPr txBox="1"/>
            <p:nvPr/>
          </p:nvSpPr>
          <p:spPr>
            <a:xfrm>
              <a:off x="6326283" y="3884463"/>
              <a:ext cx="6803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omic Sans MS" panose="030F0902030302020204" pitchFamily="66" charset="0"/>
                </a:rPr>
                <a:t>License Plate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2B50057-4C44-1969-DC89-D0DEFFEC9BBE}"/>
                </a:ext>
              </a:extLst>
            </p:cNvPr>
            <p:cNvSpPr txBox="1"/>
            <p:nvPr/>
          </p:nvSpPr>
          <p:spPr>
            <a:xfrm>
              <a:off x="2700192" y="4257118"/>
              <a:ext cx="5447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omic Sans MS" panose="030F0902030302020204" pitchFamily="66" charset="0"/>
                </a:rPr>
                <a:t>(0,N)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1C7E83F9-DA94-87F5-2434-49042F895B43}"/>
                </a:ext>
              </a:extLst>
            </p:cNvPr>
            <p:cNvSpPr txBox="1"/>
            <p:nvPr/>
          </p:nvSpPr>
          <p:spPr>
            <a:xfrm>
              <a:off x="4786567" y="4264187"/>
              <a:ext cx="5447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omic Sans MS" panose="030F0902030302020204" pitchFamily="66" charset="0"/>
                </a:rPr>
                <a:t>(1,1)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7275464-4F84-285D-6602-5FBA90EDD32A}"/>
                </a:ext>
              </a:extLst>
            </p:cNvPr>
            <p:cNvSpPr txBox="1"/>
            <p:nvPr/>
          </p:nvSpPr>
          <p:spPr>
            <a:xfrm>
              <a:off x="2069154" y="3965548"/>
              <a:ext cx="68034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1"/>
                  </a:solidFill>
                  <a:latin typeface="Comic Sans MS" panose="030F0902030302020204" pitchFamily="66" charset="0"/>
                </a:rPr>
                <a:t>Entity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19F5D46-1798-3859-1F64-03A4B3E2E863}"/>
                </a:ext>
              </a:extLst>
            </p:cNvPr>
            <p:cNvSpPr txBox="1"/>
            <p:nvPr/>
          </p:nvSpPr>
          <p:spPr>
            <a:xfrm>
              <a:off x="3561169" y="3860594"/>
              <a:ext cx="68034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1"/>
                  </a:solidFill>
                  <a:latin typeface="Comic Sans MS" panose="030F0902030302020204" pitchFamily="66" charset="0"/>
                </a:rPr>
                <a:t>Relation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21A95E4-E262-2A50-0DFF-CA0F41C8BEA7}"/>
                </a:ext>
              </a:extLst>
            </p:cNvPr>
            <p:cNvSpPr txBox="1"/>
            <p:nvPr/>
          </p:nvSpPr>
          <p:spPr>
            <a:xfrm>
              <a:off x="5848116" y="5642061"/>
              <a:ext cx="8542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1"/>
                  </a:solidFill>
                  <a:latin typeface="Comic Sans MS" panose="030F0902030302020204" pitchFamily="66" charset="0"/>
                </a:rPr>
                <a:t>Attribute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53DB783-A7A6-9357-2586-6A265228563B}"/>
                </a:ext>
              </a:extLst>
            </p:cNvPr>
            <p:cNvSpPr txBox="1"/>
            <p:nvPr/>
          </p:nvSpPr>
          <p:spPr>
            <a:xfrm>
              <a:off x="5834863" y="3667570"/>
              <a:ext cx="112532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1"/>
                  </a:solidFill>
                  <a:latin typeface="Comic Sans MS" panose="030F0902030302020204" pitchFamily="66" charset="0"/>
                </a:rPr>
                <a:t>Key Attribute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85BF5FA-2EF8-FC8E-7C93-D2A1ACF8E0A5}"/>
                </a:ext>
              </a:extLst>
            </p:cNvPr>
            <p:cNvSpPr txBox="1"/>
            <p:nvPr/>
          </p:nvSpPr>
          <p:spPr>
            <a:xfrm>
              <a:off x="2652724" y="4041712"/>
              <a:ext cx="10000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1"/>
                  </a:solidFill>
                  <a:latin typeface="Comic Sans MS" panose="030F0902030302020204" pitchFamily="66" charset="0"/>
                </a:rPr>
                <a:t>Multiplicity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35137C0-6060-80B3-ACD6-6AE41F31F2FD}"/>
                </a:ext>
              </a:extLst>
            </p:cNvPr>
            <p:cNvSpPr txBox="1"/>
            <p:nvPr/>
          </p:nvSpPr>
          <p:spPr>
            <a:xfrm>
              <a:off x="3691840" y="4924709"/>
              <a:ext cx="5447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omic Sans MS" panose="030F0902030302020204" pitchFamily="66" charset="0"/>
                </a:rPr>
                <a:t>(1,N)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63FB307-6F5F-A81E-8523-1A22EA50F492}"/>
                </a:ext>
              </a:extLst>
            </p:cNvPr>
            <p:cNvSpPr txBox="1"/>
            <p:nvPr/>
          </p:nvSpPr>
          <p:spPr>
            <a:xfrm>
              <a:off x="3500857" y="5115757"/>
              <a:ext cx="86134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1"/>
                  </a:solidFill>
                  <a:latin typeface="Comic Sans MS" panose="030F0902030302020204" pitchFamily="66" charset="0"/>
                </a:rPr>
                <a:t>Cardinality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203A877-7C7B-A4AC-21F9-BD2873496A10}"/>
                </a:ext>
              </a:extLst>
            </p:cNvPr>
            <p:cNvSpPr txBox="1"/>
            <p:nvPr/>
          </p:nvSpPr>
          <p:spPr>
            <a:xfrm>
              <a:off x="4451101" y="4081505"/>
              <a:ext cx="10000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1"/>
                  </a:solidFill>
                  <a:latin typeface="Comic Sans MS" panose="030F0902030302020204" pitchFamily="66" charset="0"/>
                </a:rPr>
                <a:t>Multiplicity</a:t>
              </a: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B7F62211-3592-EA68-3F13-67712DA3FB25}"/>
              </a:ext>
            </a:extLst>
          </p:cNvPr>
          <p:cNvSpPr txBox="1"/>
          <p:nvPr/>
        </p:nvSpPr>
        <p:spPr>
          <a:xfrm>
            <a:off x="2379702" y="4530835"/>
            <a:ext cx="48792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u="sng" dirty="0">
                <a:latin typeface="Comic Sans MS" panose="030F0902030302020204" pitchFamily="66" charset="0"/>
              </a:rPr>
              <a:t>Specify the Multiplicity:</a:t>
            </a:r>
          </a:p>
          <a:p>
            <a:endParaRPr lang="en-US" sz="1000" dirty="0">
              <a:latin typeface="Comic Sans MS" panose="030F0902030302020204" pitchFamily="66" charset="0"/>
            </a:endParaRPr>
          </a:p>
          <a:p>
            <a:r>
              <a:rPr lang="en-US" sz="1000" dirty="0">
                <a:latin typeface="Comic Sans MS" panose="030F0902030302020204" pitchFamily="66" charset="0"/>
              </a:rPr>
              <a:t>Side Person:</a:t>
            </a:r>
          </a:p>
          <a:p>
            <a:r>
              <a:rPr lang="en-US" sz="1000" dirty="0">
                <a:latin typeface="Comic Sans MS" panose="030F0902030302020204" pitchFamily="66" charset="0"/>
              </a:rPr>
              <a:t>A single person how many cars can own at minimum? 0</a:t>
            </a:r>
          </a:p>
          <a:p>
            <a:r>
              <a:rPr lang="en-US" sz="1000" dirty="0">
                <a:latin typeface="Comic Sans MS" panose="030F0902030302020204" pitchFamily="66" charset="0"/>
              </a:rPr>
              <a:t>A single person how many cars can own at maximum? N</a:t>
            </a:r>
          </a:p>
          <a:p>
            <a:r>
              <a:rPr lang="en-US" sz="1000" dirty="0">
                <a:latin typeface="Comic Sans MS" panose="030F0902030302020204" pitchFamily="66" charset="0"/>
              </a:rPr>
              <a:t>Multiplicity -&gt; (0,N)</a:t>
            </a:r>
          </a:p>
          <a:p>
            <a:endParaRPr lang="en-US" sz="1000" dirty="0">
              <a:latin typeface="Comic Sans MS" panose="030F0902030302020204" pitchFamily="66" charset="0"/>
            </a:endParaRPr>
          </a:p>
          <a:p>
            <a:r>
              <a:rPr lang="en-US" sz="1000" dirty="0">
                <a:latin typeface="Comic Sans MS" panose="030F0902030302020204" pitchFamily="66" charset="0"/>
              </a:rPr>
              <a:t>Side Car:</a:t>
            </a:r>
          </a:p>
          <a:p>
            <a:r>
              <a:rPr lang="en-US" sz="1000" dirty="0">
                <a:latin typeface="Comic Sans MS" panose="030F0902030302020204" pitchFamily="66" charset="0"/>
              </a:rPr>
              <a:t>A single car can be owned by how many people at most (max) ? 1 </a:t>
            </a:r>
          </a:p>
          <a:p>
            <a:r>
              <a:rPr lang="en-US" sz="1000" dirty="0">
                <a:latin typeface="Comic Sans MS" panose="030F0902030302020204" pitchFamily="66" charset="0"/>
              </a:rPr>
              <a:t>A single car can be owned by how many people at least (min) ? 1 </a:t>
            </a:r>
          </a:p>
          <a:p>
            <a:r>
              <a:rPr lang="en-US" sz="1000" dirty="0">
                <a:latin typeface="Comic Sans MS" panose="030F0902030302020204" pitchFamily="66" charset="0"/>
              </a:rPr>
              <a:t>Multiplicity -&gt; (1,1)</a:t>
            </a:r>
          </a:p>
          <a:p>
            <a:r>
              <a:rPr lang="en-US" sz="100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909EEE-34B4-B993-E318-26FEF2BBD8D1}"/>
              </a:ext>
            </a:extLst>
          </p:cNvPr>
          <p:cNvSpPr txBox="1"/>
          <p:nvPr/>
        </p:nvSpPr>
        <p:spPr>
          <a:xfrm>
            <a:off x="6915750" y="4526444"/>
            <a:ext cx="487928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u="sng" dirty="0">
                <a:latin typeface="Comic Sans MS" panose="030F0902030302020204" pitchFamily="66" charset="0"/>
              </a:rPr>
              <a:t>Derive the Cardinality from Multiplicity:</a:t>
            </a:r>
          </a:p>
          <a:p>
            <a:endParaRPr lang="en-US" sz="1000" dirty="0">
              <a:latin typeface="Comic Sans MS" panose="030F0902030302020204" pitchFamily="66" charset="0"/>
            </a:endParaRPr>
          </a:p>
          <a:p>
            <a:r>
              <a:rPr lang="en-US" sz="1000" dirty="0">
                <a:latin typeface="Comic Sans MS" panose="030F0902030302020204" pitchFamily="66" charset="0"/>
              </a:rPr>
              <a:t>Take the max value from the MIN and the max value from the MAX</a:t>
            </a:r>
          </a:p>
          <a:p>
            <a:r>
              <a:rPr lang="en-US" sz="1000" dirty="0">
                <a:latin typeface="Comic Sans MS" panose="030F0902030302020204" pitchFamily="66" charset="0"/>
              </a:rPr>
              <a:t>Ex. (</a:t>
            </a:r>
            <a:r>
              <a:rPr lang="en-US" sz="1000" dirty="0">
                <a:solidFill>
                  <a:schemeClr val="accent1"/>
                </a:solidFill>
                <a:latin typeface="Comic Sans MS" panose="030F0902030302020204" pitchFamily="66" charset="0"/>
              </a:rPr>
              <a:t>0</a:t>
            </a:r>
            <a:r>
              <a:rPr lang="en-US" sz="1000" dirty="0">
                <a:latin typeface="Comic Sans MS" panose="030F0902030302020204" pitchFamily="66" charset="0"/>
              </a:rPr>
              <a:t>,N) (</a:t>
            </a:r>
            <a:r>
              <a:rPr lang="en-US" sz="1000" dirty="0">
                <a:solidFill>
                  <a:schemeClr val="accent1"/>
                </a:solidFill>
                <a:latin typeface="Comic Sans MS" panose="030F0902030302020204" pitchFamily="66" charset="0"/>
              </a:rPr>
              <a:t>1</a:t>
            </a:r>
            <a:r>
              <a:rPr lang="en-US" sz="1000" dirty="0">
                <a:latin typeface="Comic Sans MS" panose="030F0902030302020204" pitchFamily="66" charset="0"/>
              </a:rPr>
              <a:t>,1) The max value between 0 and 1 is 1</a:t>
            </a:r>
          </a:p>
          <a:p>
            <a:r>
              <a:rPr lang="en-US" sz="1000" dirty="0">
                <a:latin typeface="Comic Sans MS" panose="030F0902030302020204" pitchFamily="66" charset="0"/>
              </a:rPr>
              <a:t>(0,</a:t>
            </a:r>
            <a:r>
              <a:rPr lang="en-US" sz="1000" dirty="0">
                <a:solidFill>
                  <a:schemeClr val="accent1"/>
                </a:solidFill>
                <a:latin typeface="Comic Sans MS" panose="030F0902030302020204" pitchFamily="66" charset="0"/>
              </a:rPr>
              <a:t>N</a:t>
            </a:r>
            <a:r>
              <a:rPr lang="en-US" sz="1000" dirty="0">
                <a:latin typeface="Comic Sans MS" panose="030F0902030302020204" pitchFamily="66" charset="0"/>
              </a:rPr>
              <a:t>) (1,</a:t>
            </a:r>
            <a:r>
              <a:rPr lang="en-US" sz="1000" dirty="0">
                <a:solidFill>
                  <a:schemeClr val="accent1"/>
                </a:solidFill>
                <a:latin typeface="Comic Sans MS" panose="030F0902030302020204" pitchFamily="66" charset="0"/>
              </a:rPr>
              <a:t>1</a:t>
            </a:r>
            <a:r>
              <a:rPr lang="en-US" sz="1000" dirty="0">
                <a:latin typeface="Comic Sans MS" panose="030F0902030302020204" pitchFamily="66" charset="0"/>
              </a:rPr>
              <a:t>) The max value between N and 1 is N</a:t>
            </a:r>
          </a:p>
          <a:p>
            <a:r>
              <a:rPr lang="en-US" sz="1000" dirty="0" err="1">
                <a:latin typeface="Comic Sans MS" panose="030F0902030302020204" pitchFamily="66" charset="0"/>
              </a:rPr>
              <a:t>Therfore</a:t>
            </a:r>
            <a:r>
              <a:rPr lang="en-US" sz="1000" dirty="0">
                <a:latin typeface="Comic Sans MS" panose="030F0902030302020204" pitchFamily="66" charset="0"/>
              </a:rPr>
              <a:t>  Cardinality = (1,N)</a:t>
            </a:r>
          </a:p>
          <a:p>
            <a:endParaRPr lang="en-US" sz="1000" dirty="0">
              <a:latin typeface="Comic Sans MS" panose="030F0902030302020204" pitchFamily="66" charset="0"/>
            </a:endParaRPr>
          </a:p>
          <a:p>
            <a:endParaRPr lang="en-US" sz="1000" dirty="0">
              <a:latin typeface="Comic Sans MS" panose="030F0902030302020204" pitchFamily="66" charset="0"/>
            </a:endParaRPr>
          </a:p>
          <a:p>
            <a:endParaRPr lang="en-US" sz="1000" dirty="0">
              <a:latin typeface="Comic Sans MS" panose="030F0902030302020204" pitchFamily="66" charset="0"/>
            </a:endParaRPr>
          </a:p>
          <a:p>
            <a:endParaRPr lang="en-US" sz="1000" dirty="0">
              <a:latin typeface="Comic Sans MS" panose="030F0902030302020204" pitchFamily="66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A9AE68-9EE0-286A-8B0A-A289A25F0844}"/>
              </a:ext>
            </a:extLst>
          </p:cNvPr>
          <p:cNvSpPr txBox="1"/>
          <p:nvPr/>
        </p:nvSpPr>
        <p:spPr>
          <a:xfrm>
            <a:off x="284314" y="1494492"/>
            <a:ext cx="48792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mic Sans MS" panose="030F0902030302020204" pitchFamily="66" charset="0"/>
              </a:rPr>
              <a:t>Why is important defining the cardinality ?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>
                <a:latin typeface="Comic Sans MS" panose="030F0902030302020204" pitchFamily="66" charset="0"/>
              </a:rPr>
              <a:t>Without cardinality the relation is ambiguous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>
                <a:latin typeface="Comic Sans MS" panose="030F0902030302020204" pitchFamily="66" charset="0"/>
              </a:rPr>
              <a:t>Cardinality defines to whom assign the Foreign Key</a:t>
            </a:r>
          </a:p>
          <a:p>
            <a:endParaRPr lang="en-US" sz="1000" dirty="0">
              <a:latin typeface="Comic Sans MS" panose="030F09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706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25DBD-922C-8444-394F-5F4AF0592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77" y="213326"/>
            <a:ext cx="7071360" cy="1077916"/>
          </a:xfrm>
        </p:spPr>
        <p:txBody>
          <a:bodyPr>
            <a:normAutofit fontScale="90000"/>
          </a:bodyPr>
          <a:lstStyle/>
          <a:p>
            <a:r>
              <a:rPr lang="en-US" dirty="0"/>
              <a:t>Conceptual Model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ELIMINATE THE REDUNDANCIES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A9AE68-9EE0-286A-8B0A-A289A25F0844}"/>
              </a:ext>
            </a:extLst>
          </p:cNvPr>
          <p:cNvSpPr txBox="1"/>
          <p:nvPr/>
        </p:nvSpPr>
        <p:spPr>
          <a:xfrm>
            <a:off x="397048" y="1532070"/>
            <a:ext cx="70713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mic Sans MS" panose="030F0902030302020204" pitchFamily="66" charset="0"/>
              </a:rPr>
              <a:t>IDENTIFY IF THERE ARE ATTRIBUTE DERIVABLES FROM OPERATION FROM OTHER ATTRIBUTES</a:t>
            </a:r>
          </a:p>
          <a:p>
            <a:r>
              <a:rPr lang="en-US" sz="1000" dirty="0">
                <a:latin typeface="Comic Sans MS" panose="030F0902030302020204" pitchFamily="66" charset="0"/>
              </a:rPr>
              <a:t>Duration of the assessment can be eliminate.</a:t>
            </a:r>
          </a:p>
          <a:p>
            <a:endParaRPr lang="en-US" sz="1000" dirty="0">
              <a:latin typeface="Comic Sans MS" panose="030F0902030302020204" pitchFamily="66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1118682-E715-E491-F53A-E760C4081930}"/>
              </a:ext>
            </a:extLst>
          </p:cNvPr>
          <p:cNvGrpSpPr/>
          <p:nvPr/>
        </p:nvGrpSpPr>
        <p:grpSpPr>
          <a:xfrm>
            <a:off x="919977" y="2452070"/>
            <a:ext cx="2170367" cy="1668035"/>
            <a:chOff x="2832414" y="2414994"/>
            <a:chExt cx="2170367" cy="166803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5F84B8D-6FE0-7B51-9AB8-9868B6B87996}"/>
                </a:ext>
              </a:extLst>
            </p:cNvPr>
            <p:cNvSpPr/>
            <p:nvPr/>
          </p:nvSpPr>
          <p:spPr>
            <a:xfrm>
              <a:off x="3710636" y="2679497"/>
              <a:ext cx="1012964" cy="53401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assessment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3216257-C170-F066-411D-8CFDD16CA96A}"/>
                </a:ext>
              </a:extLst>
            </p:cNvPr>
            <p:cNvCxnSpPr/>
            <p:nvPr/>
          </p:nvCxnSpPr>
          <p:spPr>
            <a:xfrm flipH="1">
              <a:off x="3622853" y="3213507"/>
              <a:ext cx="202387" cy="45354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Connector 7">
              <a:extLst>
                <a:ext uri="{FF2B5EF4-FFF2-40B4-BE49-F238E27FC236}">
                  <a16:creationId xmlns:a16="http://schemas.microsoft.com/office/drawing/2014/main" id="{812F099F-AC31-E631-C913-8232E82B33D5}"/>
                </a:ext>
              </a:extLst>
            </p:cNvPr>
            <p:cNvSpPr/>
            <p:nvPr/>
          </p:nvSpPr>
          <p:spPr>
            <a:xfrm>
              <a:off x="3585881" y="3641535"/>
              <a:ext cx="73151" cy="110876"/>
            </a:xfrm>
            <a:prstGeom prst="flowChartConnector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E4101A6-C0A9-DAE3-B1D9-8AA47A99A0C9}"/>
                </a:ext>
              </a:extLst>
            </p:cNvPr>
            <p:cNvCxnSpPr>
              <a:cxnSpLocks/>
              <a:stCxn id="3" idx="2"/>
            </p:cNvCxnSpPr>
            <p:nvPr/>
          </p:nvCxnSpPr>
          <p:spPr>
            <a:xfrm flipH="1">
              <a:off x="4184515" y="3213507"/>
              <a:ext cx="32603" cy="48346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22BB0DF-5F75-991E-5D78-619E2BC52F42}"/>
                </a:ext>
              </a:extLst>
            </p:cNvPr>
            <p:cNvCxnSpPr>
              <a:cxnSpLocks/>
              <a:stCxn id="3" idx="1"/>
            </p:cNvCxnSpPr>
            <p:nvPr/>
          </p:nvCxnSpPr>
          <p:spPr>
            <a:xfrm flipH="1" flipV="1">
              <a:off x="3393125" y="2727045"/>
              <a:ext cx="317511" cy="21945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3F5AE7C-A59D-2E90-D534-205E9D8B517D}"/>
                </a:ext>
              </a:extLst>
            </p:cNvPr>
            <p:cNvSpPr txBox="1"/>
            <p:nvPr/>
          </p:nvSpPr>
          <p:spPr>
            <a:xfrm>
              <a:off x="2832414" y="2414994"/>
              <a:ext cx="7900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omic Sans MS" panose="030F0902030302020204" pitchFamily="66" charset="0"/>
                </a:rPr>
                <a:t>Begin Time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8AB3D6D-DDF2-74C4-8D6A-DCEB51B0989E}"/>
                </a:ext>
              </a:extLst>
            </p:cNvPr>
            <p:cNvSpPr txBox="1"/>
            <p:nvPr/>
          </p:nvSpPr>
          <p:spPr>
            <a:xfrm>
              <a:off x="3014953" y="3823646"/>
              <a:ext cx="10129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omic Sans MS" panose="030F0902030302020204" pitchFamily="66" charset="0"/>
                </a:rPr>
                <a:t>End Time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D2F4A46-DCB1-66D2-6978-6F7749F16392}"/>
                </a:ext>
              </a:extLst>
            </p:cNvPr>
            <p:cNvSpPr txBox="1"/>
            <p:nvPr/>
          </p:nvSpPr>
          <p:spPr>
            <a:xfrm>
              <a:off x="3989817" y="3836808"/>
              <a:ext cx="10129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omic Sans MS" panose="030F0902030302020204" pitchFamily="66" charset="0"/>
                </a:rPr>
                <a:t>Duration</a:t>
              </a:r>
            </a:p>
          </p:txBody>
        </p:sp>
        <p:sp>
          <p:nvSpPr>
            <p:cNvPr id="14" name="Connector 13">
              <a:extLst>
                <a:ext uri="{FF2B5EF4-FFF2-40B4-BE49-F238E27FC236}">
                  <a16:creationId xmlns:a16="http://schemas.microsoft.com/office/drawing/2014/main" id="{7B0523A7-8F86-6A41-B884-9A37C58E9F1B}"/>
                </a:ext>
              </a:extLst>
            </p:cNvPr>
            <p:cNvSpPr/>
            <p:nvPr/>
          </p:nvSpPr>
          <p:spPr>
            <a:xfrm>
              <a:off x="3393125" y="2661980"/>
              <a:ext cx="73151" cy="110876"/>
            </a:xfrm>
            <a:prstGeom prst="flowChartConnector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Connector 14">
              <a:extLst>
                <a:ext uri="{FF2B5EF4-FFF2-40B4-BE49-F238E27FC236}">
                  <a16:creationId xmlns:a16="http://schemas.microsoft.com/office/drawing/2014/main" id="{5F45F0B1-D069-7702-17DC-A10BB350E2F6}"/>
                </a:ext>
              </a:extLst>
            </p:cNvPr>
            <p:cNvSpPr/>
            <p:nvPr/>
          </p:nvSpPr>
          <p:spPr>
            <a:xfrm>
              <a:off x="4165796" y="3663913"/>
              <a:ext cx="73151" cy="110876"/>
            </a:xfrm>
            <a:prstGeom prst="flowChartConnector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3F37E4B-627C-161E-63F2-F605C977EA7B}"/>
              </a:ext>
            </a:extLst>
          </p:cNvPr>
          <p:cNvGrpSpPr/>
          <p:nvPr/>
        </p:nvGrpSpPr>
        <p:grpSpPr>
          <a:xfrm>
            <a:off x="4570548" y="2355962"/>
            <a:ext cx="5543509" cy="1723458"/>
            <a:chOff x="1083613" y="4007574"/>
            <a:chExt cx="5543509" cy="172345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D71FC5D-42D3-119F-DF56-C8CDD7D92DCA}"/>
                </a:ext>
              </a:extLst>
            </p:cNvPr>
            <p:cNvSpPr/>
            <p:nvPr/>
          </p:nvSpPr>
          <p:spPr>
            <a:xfrm>
              <a:off x="2018996" y="4272077"/>
              <a:ext cx="724205" cy="53401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Student</a:t>
              </a:r>
            </a:p>
          </p:txBody>
        </p:sp>
        <p:sp>
          <p:nvSpPr>
            <p:cNvPr id="21" name="Diamond 20">
              <a:extLst>
                <a:ext uri="{FF2B5EF4-FFF2-40B4-BE49-F238E27FC236}">
                  <a16:creationId xmlns:a16="http://schemas.microsoft.com/office/drawing/2014/main" id="{CDD9492D-1078-EC7E-1F28-11676DD1E24F}"/>
                </a:ext>
              </a:extLst>
            </p:cNvPr>
            <p:cNvSpPr/>
            <p:nvPr/>
          </p:nvSpPr>
          <p:spPr>
            <a:xfrm>
              <a:off x="3512210" y="4213555"/>
              <a:ext cx="790042" cy="651053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make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1F3BF84-F991-716E-DFF6-48260E00AE76}"/>
                </a:ext>
              </a:extLst>
            </p:cNvPr>
            <p:cNvSpPr/>
            <p:nvPr/>
          </p:nvSpPr>
          <p:spPr>
            <a:xfrm>
              <a:off x="5237635" y="4266671"/>
              <a:ext cx="724205" cy="53401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Exam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D458392-341C-84E6-C794-A75E44D30C5F}"/>
                </a:ext>
              </a:extLst>
            </p:cNvPr>
            <p:cNvCxnSpPr>
              <a:cxnSpLocks/>
              <a:stCxn id="20" idx="3"/>
              <a:endCxn id="21" idx="1"/>
            </p:cNvCxnSpPr>
            <p:nvPr/>
          </p:nvCxnSpPr>
          <p:spPr>
            <a:xfrm>
              <a:off x="2743201" y="4539082"/>
              <a:ext cx="76900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15D7B2E-B9D4-8010-9712-A6DB5DC0CEE2}"/>
                </a:ext>
              </a:extLst>
            </p:cNvPr>
            <p:cNvCxnSpPr>
              <a:cxnSpLocks/>
              <a:stCxn id="21" idx="3"/>
              <a:endCxn id="24" idx="1"/>
            </p:cNvCxnSpPr>
            <p:nvPr/>
          </p:nvCxnSpPr>
          <p:spPr>
            <a:xfrm flipV="1">
              <a:off x="4302252" y="4533676"/>
              <a:ext cx="935383" cy="540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0949E7A-5E4C-431A-DA9F-DA97D1D3E303}"/>
                </a:ext>
              </a:extLst>
            </p:cNvPr>
            <p:cNvCxnSpPr/>
            <p:nvPr/>
          </p:nvCxnSpPr>
          <p:spPr>
            <a:xfrm flipH="1">
              <a:off x="1931213" y="4806087"/>
              <a:ext cx="202387" cy="45354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Connector 31">
              <a:extLst>
                <a:ext uri="{FF2B5EF4-FFF2-40B4-BE49-F238E27FC236}">
                  <a16:creationId xmlns:a16="http://schemas.microsoft.com/office/drawing/2014/main" id="{EF8C8B33-E2F0-5C16-3ECA-E357475A93FF}"/>
                </a:ext>
              </a:extLst>
            </p:cNvPr>
            <p:cNvSpPr/>
            <p:nvPr/>
          </p:nvSpPr>
          <p:spPr>
            <a:xfrm>
              <a:off x="1894241" y="5234115"/>
              <a:ext cx="73151" cy="110876"/>
            </a:xfrm>
            <a:prstGeom prst="flowChartConnector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Connector 32">
              <a:extLst>
                <a:ext uri="{FF2B5EF4-FFF2-40B4-BE49-F238E27FC236}">
                  <a16:creationId xmlns:a16="http://schemas.microsoft.com/office/drawing/2014/main" id="{69AD5750-5182-47F7-8689-AE5313C3157C}"/>
                </a:ext>
              </a:extLst>
            </p:cNvPr>
            <p:cNvSpPr/>
            <p:nvPr/>
          </p:nvSpPr>
          <p:spPr>
            <a:xfrm>
              <a:off x="2478183" y="5285026"/>
              <a:ext cx="73151" cy="110876"/>
            </a:xfrm>
            <a:prstGeom prst="flowChartConnector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Connector 34">
              <a:extLst>
                <a:ext uri="{FF2B5EF4-FFF2-40B4-BE49-F238E27FC236}">
                  <a16:creationId xmlns:a16="http://schemas.microsoft.com/office/drawing/2014/main" id="{D7751985-39E1-6091-D2FD-0033019DFB8C}"/>
                </a:ext>
              </a:extLst>
            </p:cNvPr>
            <p:cNvSpPr/>
            <p:nvPr/>
          </p:nvSpPr>
          <p:spPr>
            <a:xfrm>
              <a:off x="1664909" y="4264187"/>
              <a:ext cx="73151" cy="110876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Connector 43">
              <a:extLst>
                <a:ext uri="{FF2B5EF4-FFF2-40B4-BE49-F238E27FC236}">
                  <a16:creationId xmlns:a16="http://schemas.microsoft.com/office/drawing/2014/main" id="{31A0ED8D-5CD5-6F04-AE75-CA702A9DDF18}"/>
                </a:ext>
              </a:extLst>
            </p:cNvPr>
            <p:cNvSpPr/>
            <p:nvPr/>
          </p:nvSpPr>
          <p:spPr>
            <a:xfrm>
              <a:off x="5267850" y="5288890"/>
              <a:ext cx="73151" cy="110876"/>
            </a:xfrm>
            <a:prstGeom prst="flowChartConnector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Connector 44">
              <a:extLst>
                <a:ext uri="{FF2B5EF4-FFF2-40B4-BE49-F238E27FC236}">
                  <a16:creationId xmlns:a16="http://schemas.microsoft.com/office/drawing/2014/main" id="{062E23D9-1247-80C3-19C1-D1C8D2EDEADA}"/>
                </a:ext>
              </a:extLst>
            </p:cNvPr>
            <p:cNvSpPr/>
            <p:nvPr/>
          </p:nvSpPr>
          <p:spPr>
            <a:xfrm>
              <a:off x="5984940" y="5339795"/>
              <a:ext cx="73151" cy="110876"/>
            </a:xfrm>
            <a:prstGeom prst="flowChartConnector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50B6C00-38F7-9AF0-3BA2-D6975EFCECA1}"/>
                </a:ext>
              </a:extLst>
            </p:cNvPr>
            <p:cNvCxnSpPr>
              <a:cxnSpLocks/>
              <a:stCxn id="20" idx="2"/>
            </p:cNvCxnSpPr>
            <p:nvPr/>
          </p:nvCxnSpPr>
          <p:spPr>
            <a:xfrm>
              <a:off x="2381099" y="4806087"/>
              <a:ext cx="111776" cy="48346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438C760-6E0B-509B-C7C0-7885C949E9BF}"/>
                </a:ext>
              </a:extLst>
            </p:cNvPr>
            <p:cNvCxnSpPr>
              <a:cxnSpLocks/>
              <a:stCxn id="20" idx="1"/>
            </p:cNvCxnSpPr>
            <p:nvPr/>
          </p:nvCxnSpPr>
          <p:spPr>
            <a:xfrm flipH="1" flipV="1">
              <a:off x="1701485" y="4319625"/>
              <a:ext cx="317511" cy="21945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C7E823A-D84A-EDF3-7EED-59E875849A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04426" y="4800681"/>
              <a:ext cx="131171" cy="50649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7BABA81-B193-0E32-942B-044B5B806A40}"/>
                </a:ext>
              </a:extLst>
            </p:cNvPr>
            <p:cNvCxnSpPr>
              <a:cxnSpLocks/>
            </p:cNvCxnSpPr>
            <p:nvPr/>
          </p:nvCxnSpPr>
          <p:spPr>
            <a:xfrm>
              <a:off x="5819421" y="4816001"/>
              <a:ext cx="183499" cy="52446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AF4FB38-13A7-D893-6222-A5283E7A33B0}"/>
                </a:ext>
              </a:extLst>
            </p:cNvPr>
            <p:cNvSpPr txBox="1"/>
            <p:nvPr/>
          </p:nvSpPr>
          <p:spPr>
            <a:xfrm>
              <a:off x="1083613" y="4007574"/>
              <a:ext cx="84720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Comic Sans MS" panose="030F0902030302020204" pitchFamily="66" charset="0"/>
                </a:rPr>
                <a:t>IDStudent</a:t>
              </a:r>
              <a:endParaRPr lang="en-US" sz="1000" dirty="0">
                <a:latin typeface="Comic Sans MS" panose="030F0902030302020204" pitchFamily="66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F115623-9F84-8BF9-B430-681950915716}"/>
                </a:ext>
              </a:extLst>
            </p:cNvPr>
            <p:cNvSpPr txBox="1"/>
            <p:nvPr/>
          </p:nvSpPr>
          <p:spPr>
            <a:xfrm>
              <a:off x="1323313" y="5416226"/>
              <a:ext cx="10129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omic Sans MS" panose="030F0902030302020204" pitchFamily="66" charset="0"/>
                </a:rPr>
                <a:t>First Name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14DFEAB-F129-94A3-4FBB-4B13FDC3ACAF}"/>
                </a:ext>
              </a:extLst>
            </p:cNvPr>
            <p:cNvSpPr txBox="1"/>
            <p:nvPr/>
          </p:nvSpPr>
          <p:spPr>
            <a:xfrm>
              <a:off x="2298177" y="5429388"/>
              <a:ext cx="10129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omic Sans MS" panose="030F0902030302020204" pitchFamily="66" charset="0"/>
                </a:rPr>
                <a:t>Family Name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50E466F-6F2E-4178-1AE7-BDAC8FF739D0}"/>
                </a:ext>
              </a:extLst>
            </p:cNvPr>
            <p:cNvSpPr txBox="1"/>
            <p:nvPr/>
          </p:nvSpPr>
          <p:spPr>
            <a:xfrm>
              <a:off x="4964251" y="5435032"/>
              <a:ext cx="68034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omic Sans MS" panose="030F0902030302020204" pitchFamily="66" charset="0"/>
                </a:rPr>
                <a:t>Date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924298C-4430-96F4-7891-F50BA9FAF87E}"/>
                </a:ext>
              </a:extLst>
            </p:cNvPr>
            <p:cNvSpPr txBox="1"/>
            <p:nvPr/>
          </p:nvSpPr>
          <p:spPr>
            <a:xfrm>
              <a:off x="5946775" y="5484811"/>
              <a:ext cx="68034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omic Sans MS" panose="030F0902030302020204" pitchFamily="66" charset="0"/>
                </a:rPr>
                <a:t>Grade</a:t>
              </a:r>
            </a:p>
          </p:txBody>
        </p:sp>
      </p:grpSp>
      <p:sp>
        <p:nvSpPr>
          <p:cNvPr id="87" name="Connector 86">
            <a:extLst>
              <a:ext uri="{FF2B5EF4-FFF2-40B4-BE49-F238E27FC236}">
                <a16:creationId xmlns:a16="http://schemas.microsoft.com/office/drawing/2014/main" id="{27CF9D71-4423-8195-EE81-9F5E97AD73D6}"/>
              </a:ext>
            </a:extLst>
          </p:cNvPr>
          <p:cNvSpPr/>
          <p:nvPr/>
        </p:nvSpPr>
        <p:spPr>
          <a:xfrm>
            <a:off x="6589126" y="3410688"/>
            <a:ext cx="73151" cy="110876"/>
          </a:xfrm>
          <a:prstGeom prst="flowChartConnector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4C00DCC-BF5B-81D3-5AA0-0886700DED30}"/>
              </a:ext>
            </a:extLst>
          </p:cNvPr>
          <p:cNvCxnSpPr>
            <a:cxnSpLocks/>
          </p:cNvCxnSpPr>
          <p:nvPr/>
        </p:nvCxnSpPr>
        <p:spPr>
          <a:xfrm>
            <a:off x="6217451" y="3126314"/>
            <a:ext cx="397189" cy="3195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E1611F92-21FD-65CB-A44E-6366D3277C34}"/>
              </a:ext>
            </a:extLst>
          </p:cNvPr>
          <p:cNvSpPr txBox="1"/>
          <p:nvPr/>
        </p:nvSpPr>
        <p:spPr>
          <a:xfrm>
            <a:off x="6499722" y="3488709"/>
            <a:ext cx="1131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mic Sans MS" panose="030F0902030302020204" pitchFamily="66" charset="0"/>
              </a:rPr>
              <a:t>Average Grade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9F540E0-1926-A46B-E127-9CAEF00D7D99}"/>
              </a:ext>
            </a:extLst>
          </p:cNvPr>
          <p:cNvSpPr txBox="1"/>
          <p:nvPr/>
        </p:nvSpPr>
        <p:spPr>
          <a:xfrm>
            <a:off x="4721198" y="4408239"/>
            <a:ext cx="7071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mic Sans MS" panose="030F0902030302020204" pitchFamily="66" charset="0"/>
              </a:rPr>
              <a:t>Average Grade can be eliminate since derivable from attribute grade from Exam</a:t>
            </a:r>
          </a:p>
          <a:p>
            <a:endParaRPr lang="en-US" sz="1000" dirty="0">
              <a:latin typeface="Comic Sans MS" panose="030F0902030302020204" pitchFamily="66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07F88EE-5F7D-9837-229F-BB78CD855D7C}"/>
              </a:ext>
            </a:extLst>
          </p:cNvPr>
          <p:cNvSpPr txBox="1"/>
          <p:nvPr/>
        </p:nvSpPr>
        <p:spPr>
          <a:xfrm>
            <a:off x="721739" y="4408239"/>
            <a:ext cx="3724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mic Sans MS" panose="030F0902030302020204" pitchFamily="66" charset="0"/>
              </a:rPr>
              <a:t>Duration of the assessment can be eliminate.</a:t>
            </a:r>
          </a:p>
          <a:p>
            <a:endParaRPr lang="en-US" sz="1000" dirty="0">
              <a:latin typeface="Comic Sans MS" panose="030F09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879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B95D1-CDDE-7460-2574-48F8AC12E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F07AD-4CC9-43E2-97E2-1C93D6B163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Conversion from conceptual model into logical model</a:t>
            </a:r>
          </a:p>
        </p:txBody>
      </p:sp>
    </p:spTree>
    <p:extLst>
      <p:ext uri="{BB962C8B-B14F-4D97-AF65-F5344CB8AC3E}">
        <p14:creationId xmlns:p14="http://schemas.microsoft.com/office/powerpoint/2010/main" val="3030026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25DBD-922C-8444-394F-5F4AF0592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77" y="213326"/>
            <a:ext cx="7071360" cy="1077916"/>
          </a:xfrm>
        </p:spPr>
        <p:txBody>
          <a:bodyPr>
            <a:normAutofit/>
          </a:bodyPr>
          <a:lstStyle/>
          <a:p>
            <a:r>
              <a:rPr lang="en-US" dirty="0"/>
              <a:t>LOGICAL Model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A9AE68-9EE0-286A-8B0A-A289A25F0844}"/>
              </a:ext>
            </a:extLst>
          </p:cNvPr>
          <p:cNvSpPr txBox="1"/>
          <p:nvPr/>
        </p:nvSpPr>
        <p:spPr>
          <a:xfrm>
            <a:off x="397047" y="1532070"/>
            <a:ext cx="8254583" cy="2369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/>
            </a:lvl1pPr>
            <a:lvl2pPr indent="-18288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lvl2pPr>
            <a:lvl3pPr marL="731520" indent="-18288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/>
            </a:lvl3pPr>
            <a:lvl4pPr marL="1005840" indent="-18288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/>
            </a:lvl4pPr>
            <a:lvl5pPr marL="1280160" indent="-18288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/>
            </a:lvl5pPr>
            <a:lvl6pPr marL="1600000" indent="-22860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/>
            </a:lvl6pPr>
            <a:lvl7pPr marL="1900000" indent="-22860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/>
            </a:lvl7pPr>
            <a:lvl8pPr marL="2200000" indent="-22860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/>
            </a:lvl8pPr>
            <a:lvl9pPr marL="2500000" indent="-22860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/>
            </a:lvl9pPr>
          </a:lstStyle>
          <a:p>
            <a:r>
              <a:rPr lang="en-US" dirty="0"/>
              <a:t>TRANSFORM THE ENTITY RELATION MODEL INTO TABLES</a:t>
            </a:r>
          </a:p>
          <a:p>
            <a:r>
              <a:rPr lang="en-US"/>
              <a:t>ASSIGN THE </a:t>
            </a:r>
            <a:r>
              <a:rPr lang="en-US" dirty="0"/>
              <a:t>FOREIGN KEY</a:t>
            </a:r>
          </a:p>
          <a:p>
            <a:r>
              <a:rPr lang="en-US"/>
              <a:t>NORMALIZE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424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25DBD-922C-8444-394F-5F4AF0592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77" y="213326"/>
            <a:ext cx="9475554" cy="1077916"/>
          </a:xfrm>
        </p:spPr>
        <p:txBody>
          <a:bodyPr>
            <a:normAutofit fontScale="90000"/>
          </a:bodyPr>
          <a:lstStyle/>
          <a:p>
            <a:r>
              <a:rPr lang="en-US" dirty="0"/>
              <a:t>logical Model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transform entities in tables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860CFCD-4908-D893-440C-07785ABB6F42}"/>
              </a:ext>
            </a:extLst>
          </p:cNvPr>
          <p:cNvGrpSpPr/>
          <p:nvPr/>
        </p:nvGrpSpPr>
        <p:grpSpPr>
          <a:xfrm>
            <a:off x="452630" y="2004652"/>
            <a:ext cx="5865856" cy="2220712"/>
            <a:chOff x="1140774" y="3667570"/>
            <a:chExt cx="5865856" cy="2220712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3EA408E-393B-10A9-1683-66F5C2D14DBE}"/>
                </a:ext>
              </a:extLst>
            </p:cNvPr>
            <p:cNvSpPr/>
            <p:nvPr/>
          </p:nvSpPr>
          <p:spPr>
            <a:xfrm>
              <a:off x="2018996" y="4272077"/>
              <a:ext cx="724205" cy="53401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Person</a:t>
              </a:r>
            </a:p>
          </p:txBody>
        </p:sp>
        <p:sp>
          <p:nvSpPr>
            <p:cNvPr id="23" name="Diamond 22">
              <a:extLst>
                <a:ext uri="{FF2B5EF4-FFF2-40B4-BE49-F238E27FC236}">
                  <a16:creationId xmlns:a16="http://schemas.microsoft.com/office/drawing/2014/main" id="{90310C9C-DD87-CEBA-66AE-175A6093A6BB}"/>
                </a:ext>
              </a:extLst>
            </p:cNvPr>
            <p:cNvSpPr/>
            <p:nvPr/>
          </p:nvSpPr>
          <p:spPr>
            <a:xfrm>
              <a:off x="3512210" y="4213555"/>
              <a:ext cx="790042" cy="651053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own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FCA3C0F-8DD3-72C0-46F3-CBD410D26F7E}"/>
                </a:ext>
              </a:extLst>
            </p:cNvPr>
            <p:cNvSpPr/>
            <p:nvPr/>
          </p:nvSpPr>
          <p:spPr>
            <a:xfrm>
              <a:off x="5237635" y="4266671"/>
              <a:ext cx="724205" cy="53401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Car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A7BF5BD-DB61-C94F-D7E1-386C00B18216}"/>
                </a:ext>
              </a:extLst>
            </p:cNvPr>
            <p:cNvCxnSpPr>
              <a:stCxn id="22" idx="3"/>
              <a:endCxn id="23" idx="1"/>
            </p:cNvCxnSpPr>
            <p:nvPr/>
          </p:nvCxnSpPr>
          <p:spPr>
            <a:xfrm>
              <a:off x="2743201" y="4539082"/>
              <a:ext cx="76900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72A0580-8BD1-F733-9887-41BBCAA1404E}"/>
                </a:ext>
              </a:extLst>
            </p:cNvPr>
            <p:cNvCxnSpPr>
              <a:cxnSpLocks/>
              <a:stCxn id="23" idx="3"/>
              <a:endCxn id="26" idx="1"/>
            </p:cNvCxnSpPr>
            <p:nvPr/>
          </p:nvCxnSpPr>
          <p:spPr>
            <a:xfrm flipV="1">
              <a:off x="4302252" y="4533676"/>
              <a:ext cx="935383" cy="540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0832F9E-256F-FB0F-C7DB-42489EE0F38C}"/>
                </a:ext>
              </a:extLst>
            </p:cNvPr>
            <p:cNvCxnSpPr/>
            <p:nvPr/>
          </p:nvCxnSpPr>
          <p:spPr>
            <a:xfrm flipH="1">
              <a:off x="1931213" y="4806087"/>
              <a:ext cx="202387" cy="45354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Connector 33">
              <a:extLst>
                <a:ext uri="{FF2B5EF4-FFF2-40B4-BE49-F238E27FC236}">
                  <a16:creationId xmlns:a16="http://schemas.microsoft.com/office/drawing/2014/main" id="{63C2B307-EFD6-F9E2-B731-F5162144B834}"/>
                </a:ext>
              </a:extLst>
            </p:cNvPr>
            <p:cNvSpPr/>
            <p:nvPr/>
          </p:nvSpPr>
          <p:spPr>
            <a:xfrm>
              <a:off x="1894241" y="5234115"/>
              <a:ext cx="73151" cy="110876"/>
            </a:xfrm>
            <a:prstGeom prst="flowChartConnector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Connector 35">
              <a:extLst>
                <a:ext uri="{FF2B5EF4-FFF2-40B4-BE49-F238E27FC236}">
                  <a16:creationId xmlns:a16="http://schemas.microsoft.com/office/drawing/2014/main" id="{98CDC1C8-2D01-3726-8548-95B06A5219AF}"/>
                </a:ext>
              </a:extLst>
            </p:cNvPr>
            <p:cNvSpPr/>
            <p:nvPr/>
          </p:nvSpPr>
          <p:spPr>
            <a:xfrm>
              <a:off x="2478183" y="5285026"/>
              <a:ext cx="73151" cy="110876"/>
            </a:xfrm>
            <a:prstGeom prst="flowChartConnector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Connector 36">
              <a:extLst>
                <a:ext uri="{FF2B5EF4-FFF2-40B4-BE49-F238E27FC236}">
                  <a16:creationId xmlns:a16="http://schemas.microsoft.com/office/drawing/2014/main" id="{4B503699-6C64-D93F-CD86-D48FC413CAF8}"/>
                </a:ext>
              </a:extLst>
            </p:cNvPr>
            <p:cNvSpPr/>
            <p:nvPr/>
          </p:nvSpPr>
          <p:spPr>
            <a:xfrm>
              <a:off x="1664909" y="4264187"/>
              <a:ext cx="73151" cy="110876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Connector 37">
              <a:extLst>
                <a:ext uri="{FF2B5EF4-FFF2-40B4-BE49-F238E27FC236}">
                  <a16:creationId xmlns:a16="http://schemas.microsoft.com/office/drawing/2014/main" id="{0EB3CE95-99BA-5C6C-6B95-089E399C6C90}"/>
                </a:ext>
              </a:extLst>
            </p:cNvPr>
            <p:cNvSpPr/>
            <p:nvPr/>
          </p:nvSpPr>
          <p:spPr>
            <a:xfrm>
              <a:off x="5267850" y="5288890"/>
              <a:ext cx="73151" cy="110876"/>
            </a:xfrm>
            <a:prstGeom prst="flowChartConnector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Connector 38">
              <a:extLst>
                <a:ext uri="{FF2B5EF4-FFF2-40B4-BE49-F238E27FC236}">
                  <a16:creationId xmlns:a16="http://schemas.microsoft.com/office/drawing/2014/main" id="{AE8FFD12-78E5-9A90-5266-68FCE31A0119}"/>
                </a:ext>
              </a:extLst>
            </p:cNvPr>
            <p:cNvSpPr/>
            <p:nvPr/>
          </p:nvSpPr>
          <p:spPr>
            <a:xfrm>
              <a:off x="5984940" y="5339795"/>
              <a:ext cx="73151" cy="110876"/>
            </a:xfrm>
            <a:prstGeom prst="flowChartConnector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626A086-BCEB-A8C9-2214-51090394221B}"/>
                </a:ext>
              </a:extLst>
            </p:cNvPr>
            <p:cNvCxnSpPr>
              <a:cxnSpLocks/>
              <a:stCxn id="22" idx="2"/>
            </p:cNvCxnSpPr>
            <p:nvPr/>
          </p:nvCxnSpPr>
          <p:spPr>
            <a:xfrm>
              <a:off x="2381099" y="4806087"/>
              <a:ext cx="111776" cy="48346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E19B0DE-91F7-7FBC-AC4A-598A013B9F3E}"/>
                </a:ext>
              </a:extLst>
            </p:cNvPr>
            <p:cNvCxnSpPr>
              <a:cxnSpLocks/>
              <a:stCxn id="22" idx="1"/>
            </p:cNvCxnSpPr>
            <p:nvPr/>
          </p:nvCxnSpPr>
          <p:spPr>
            <a:xfrm flipH="1" flipV="1">
              <a:off x="1701485" y="4319625"/>
              <a:ext cx="317511" cy="21945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67762EA-14FC-13E3-2365-21D0E90E3B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04426" y="4800681"/>
              <a:ext cx="131171" cy="50649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53E8E98-E2F4-003A-F2FA-ADCDECA6C67D}"/>
                </a:ext>
              </a:extLst>
            </p:cNvPr>
            <p:cNvCxnSpPr>
              <a:cxnSpLocks/>
            </p:cNvCxnSpPr>
            <p:nvPr/>
          </p:nvCxnSpPr>
          <p:spPr>
            <a:xfrm>
              <a:off x="5819421" y="4816001"/>
              <a:ext cx="183499" cy="52446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EA01D87-5193-90C9-9F35-45DFFF89AE89}"/>
                </a:ext>
              </a:extLst>
            </p:cNvPr>
            <p:cNvSpPr txBox="1"/>
            <p:nvPr/>
          </p:nvSpPr>
          <p:spPr>
            <a:xfrm>
              <a:off x="1140774" y="4007574"/>
              <a:ext cx="7900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Comic Sans MS" panose="030F0902030302020204" pitchFamily="66" charset="0"/>
                </a:rPr>
                <a:t>IDPerson</a:t>
              </a:r>
              <a:endParaRPr lang="en-US" sz="1000" dirty="0">
                <a:latin typeface="Comic Sans MS" panose="030F0902030302020204" pitchFamily="66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033417E-63EE-12D1-0A70-E2E24A79FA91}"/>
                </a:ext>
              </a:extLst>
            </p:cNvPr>
            <p:cNvSpPr txBox="1"/>
            <p:nvPr/>
          </p:nvSpPr>
          <p:spPr>
            <a:xfrm>
              <a:off x="1323313" y="5416226"/>
              <a:ext cx="10129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omic Sans MS" panose="030F0902030302020204" pitchFamily="66" charset="0"/>
                </a:rPr>
                <a:t>First Name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BA41E92-38F8-4926-A36F-6ACEFD853115}"/>
                </a:ext>
              </a:extLst>
            </p:cNvPr>
            <p:cNvSpPr txBox="1"/>
            <p:nvPr/>
          </p:nvSpPr>
          <p:spPr>
            <a:xfrm>
              <a:off x="2298177" y="5429388"/>
              <a:ext cx="10129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omic Sans MS" panose="030F0902030302020204" pitchFamily="66" charset="0"/>
                </a:rPr>
                <a:t>Family Name</a:t>
              </a:r>
            </a:p>
          </p:txBody>
        </p:sp>
        <p:sp>
          <p:nvSpPr>
            <p:cNvPr id="54" name="Connector 53">
              <a:extLst>
                <a:ext uri="{FF2B5EF4-FFF2-40B4-BE49-F238E27FC236}">
                  <a16:creationId xmlns:a16="http://schemas.microsoft.com/office/drawing/2014/main" id="{CCFADCAB-287A-1C25-8EBE-1D3699BE6DE0}"/>
                </a:ext>
              </a:extLst>
            </p:cNvPr>
            <p:cNvSpPr/>
            <p:nvPr/>
          </p:nvSpPr>
          <p:spPr>
            <a:xfrm>
              <a:off x="6238646" y="4133809"/>
              <a:ext cx="73151" cy="110876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5B5C874-5849-DCF0-07BB-E9E52795B1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63106" y="4209418"/>
              <a:ext cx="280936" cy="21993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E02F2D5-12FD-2EBA-D012-8116E4367094}"/>
                </a:ext>
              </a:extLst>
            </p:cNvPr>
            <p:cNvSpPr txBox="1"/>
            <p:nvPr/>
          </p:nvSpPr>
          <p:spPr>
            <a:xfrm>
              <a:off x="4964251" y="5435032"/>
              <a:ext cx="68034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omic Sans MS" panose="030F0902030302020204" pitchFamily="66" charset="0"/>
                </a:rPr>
                <a:t>Model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7550C60-0DD6-8D1E-6073-28D4CFDE0CC1}"/>
                </a:ext>
              </a:extLst>
            </p:cNvPr>
            <p:cNvSpPr txBox="1"/>
            <p:nvPr/>
          </p:nvSpPr>
          <p:spPr>
            <a:xfrm>
              <a:off x="5946775" y="5484811"/>
              <a:ext cx="68034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omic Sans MS" panose="030F0902030302020204" pitchFamily="66" charset="0"/>
                </a:rPr>
                <a:t>Brand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6358197-6BFC-6FBC-464F-2E2641E5A7E6}"/>
                </a:ext>
              </a:extLst>
            </p:cNvPr>
            <p:cNvSpPr txBox="1"/>
            <p:nvPr/>
          </p:nvSpPr>
          <p:spPr>
            <a:xfrm>
              <a:off x="6326283" y="3884463"/>
              <a:ext cx="6803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omic Sans MS" panose="030F0902030302020204" pitchFamily="66" charset="0"/>
                </a:rPr>
                <a:t>License Plate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2B50057-4C44-1969-DC89-D0DEFFEC9BBE}"/>
                </a:ext>
              </a:extLst>
            </p:cNvPr>
            <p:cNvSpPr txBox="1"/>
            <p:nvPr/>
          </p:nvSpPr>
          <p:spPr>
            <a:xfrm>
              <a:off x="2700192" y="4257118"/>
              <a:ext cx="5447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omic Sans MS" panose="030F0902030302020204" pitchFamily="66" charset="0"/>
                </a:rPr>
                <a:t>(0,N)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1C7E83F9-DA94-87F5-2434-49042F895B43}"/>
                </a:ext>
              </a:extLst>
            </p:cNvPr>
            <p:cNvSpPr txBox="1"/>
            <p:nvPr/>
          </p:nvSpPr>
          <p:spPr>
            <a:xfrm>
              <a:off x="4786567" y="4264187"/>
              <a:ext cx="5447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omic Sans MS" panose="030F0902030302020204" pitchFamily="66" charset="0"/>
                </a:rPr>
                <a:t>(1,1)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7275464-4F84-285D-6602-5FBA90EDD32A}"/>
                </a:ext>
              </a:extLst>
            </p:cNvPr>
            <p:cNvSpPr txBox="1"/>
            <p:nvPr/>
          </p:nvSpPr>
          <p:spPr>
            <a:xfrm>
              <a:off x="2069154" y="3965548"/>
              <a:ext cx="68034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1"/>
                  </a:solidFill>
                  <a:latin typeface="Comic Sans MS" panose="030F0902030302020204" pitchFamily="66" charset="0"/>
                </a:rPr>
                <a:t>Entity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19F5D46-1798-3859-1F64-03A4B3E2E863}"/>
                </a:ext>
              </a:extLst>
            </p:cNvPr>
            <p:cNvSpPr txBox="1"/>
            <p:nvPr/>
          </p:nvSpPr>
          <p:spPr>
            <a:xfrm>
              <a:off x="3561169" y="3860594"/>
              <a:ext cx="68034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1"/>
                  </a:solidFill>
                  <a:latin typeface="Comic Sans MS" panose="030F0902030302020204" pitchFamily="66" charset="0"/>
                </a:rPr>
                <a:t>Relation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21A95E4-E262-2A50-0DFF-CA0F41C8BEA7}"/>
                </a:ext>
              </a:extLst>
            </p:cNvPr>
            <p:cNvSpPr txBox="1"/>
            <p:nvPr/>
          </p:nvSpPr>
          <p:spPr>
            <a:xfrm>
              <a:off x="5848116" y="5642061"/>
              <a:ext cx="8542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1"/>
                  </a:solidFill>
                  <a:latin typeface="Comic Sans MS" panose="030F0902030302020204" pitchFamily="66" charset="0"/>
                </a:rPr>
                <a:t>Attribute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53DB783-A7A6-9357-2586-6A265228563B}"/>
                </a:ext>
              </a:extLst>
            </p:cNvPr>
            <p:cNvSpPr txBox="1"/>
            <p:nvPr/>
          </p:nvSpPr>
          <p:spPr>
            <a:xfrm>
              <a:off x="5834863" y="3667570"/>
              <a:ext cx="112532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1"/>
                  </a:solidFill>
                  <a:latin typeface="Comic Sans MS" panose="030F0902030302020204" pitchFamily="66" charset="0"/>
                </a:rPr>
                <a:t>Key Attribute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85BF5FA-2EF8-FC8E-7C93-D2A1ACF8E0A5}"/>
                </a:ext>
              </a:extLst>
            </p:cNvPr>
            <p:cNvSpPr txBox="1"/>
            <p:nvPr/>
          </p:nvSpPr>
          <p:spPr>
            <a:xfrm>
              <a:off x="2652724" y="4041712"/>
              <a:ext cx="10000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1"/>
                  </a:solidFill>
                  <a:latin typeface="Comic Sans MS" panose="030F0902030302020204" pitchFamily="66" charset="0"/>
                </a:rPr>
                <a:t>Multiplicity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35137C0-6060-80B3-ACD6-6AE41F31F2FD}"/>
                </a:ext>
              </a:extLst>
            </p:cNvPr>
            <p:cNvSpPr txBox="1"/>
            <p:nvPr/>
          </p:nvSpPr>
          <p:spPr>
            <a:xfrm>
              <a:off x="3691840" y="4924709"/>
              <a:ext cx="5447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omic Sans MS" panose="030F0902030302020204" pitchFamily="66" charset="0"/>
                </a:rPr>
                <a:t>(1,N)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63FB307-6F5F-A81E-8523-1A22EA50F492}"/>
                </a:ext>
              </a:extLst>
            </p:cNvPr>
            <p:cNvSpPr txBox="1"/>
            <p:nvPr/>
          </p:nvSpPr>
          <p:spPr>
            <a:xfrm>
              <a:off x="3500857" y="5115757"/>
              <a:ext cx="86134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1"/>
                  </a:solidFill>
                  <a:latin typeface="Comic Sans MS" panose="030F0902030302020204" pitchFamily="66" charset="0"/>
                </a:rPr>
                <a:t>Cardinality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203A877-7C7B-A4AC-21F9-BD2873496A10}"/>
                </a:ext>
              </a:extLst>
            </p:cNvPr>
            <p:cNvSpPr txBox="1"/>
            <p:nvPr/>
          </p:nvSpPr>
          <p:spPr>
            <a:xfrm>
              <a:off x="4451101" y="4081505"/>
              <a:ext cx="10000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1"/>
                  </a:solidFill>
                  <a:latin typeface="Comic Sans MS" panose="030F0902030302020204" pitchFamily="66" charset="0"/>
                </a:rPr>
                <a:t>Multiplicity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0A9AE68-9EE0-286A-8B0A-A289A25F0844}"/>
              </a:ext>
            </a:extLst>
          </p:cNvPr>
          <p:cNvSpPr txBox="1"/>
          <p:nvPr/>
        </p:nvSpPr>
        <p:spPr>
          <a:xfrm>
            <a:off x="1242672" y="4587988"/>
            <a:ext cx="82500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Comic Sans MS" panose="030F0902030302020204" pitchFamily="66" charset="0"/>
              </a:defRPr>
            </a:lvl1pPr>
          </a:lstStyle>
          <a:p>
            <a:r>
              <a:rPr lang="en-GB" dirty="0"/>
              <a:t>Transforming entities into tables causes their relationships to be lost. These relationships are re-established by assigning foreign </a:t>
            </a:r>
            <a:r>
              <a:rPr lang="en-GB"/>
              <a:t>keys.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E54577-594C-85A8-454D-29C99CBDF021}"/>
              </a:ext>
            </a:extLst>
          </p:cNvPr>
          <p:cNvSpPr txBox="1"/>
          <p:nvPr/>
        </p:nvSpPr>
        <p:spPr>
          <a:xfrm>
            <a:off x="6634258" y="2489436"/>
            <a:ext cx="46235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mic Sans MS" panose="030F0902030302020204" pitchFamily="66" charset="0"/>
              </a:rPr>
              <a:t>Persons (PK. </a:t>
            </a:r>
            <a:r>
              <a:rPr lang="en-US" sz="1000" dirty="0" err="1">
                <a:latin typeface="Comic Sans MS" panose="030F0902030302020204" pitchFamily="66" charset="0"/>
              </a:rPr>
              <a:t>ID_person</a:t>
            </a:r>
            <a:r>
              <a:rPr lang="en-US" sz="1000" dirty="0">
                <a:latin typeface="Comic Sans MS" panose="030F0902030302020204" pitchFamily="66" charset="0"/>
              </a:rPr>
              <a:t>, First name, Family name)</a:t>
            </a:r>
          </a:p>
          <a:p>
            <a:r>
              <a:rPr lang="en-US" sz="1000" dirty="0">
                <a:latin typeface="Comic Sans MS" panose="030F0902030302020204" pitchFamily="66" charset="0"/>
              </a:rPr>
              <a:t>Cars (PK </a:t>
            </a:r>
            <a:r>
              <a:rPr lang="en-US" sz="1000" dirty="0" err="1">
                <a:latin typeface="Comic Sans MS" panose="030F0902030302020204" pitchFamily="66" charset="0"/>
              </a:rPr>
              <a:t>Licence</a:t>
            </a:r>
            <a:r>
              <a:rPr lang="en-US" sz="1000" dirty="0">
                <a:latin typeface="Comic Sans MS" panose="030F0902030302020204" pitchFamily="66" charset="0"/>
              </a:rPr>
              <a:t> plate, Brand, Model)</a:t>
            </a:r>
          </a:p>
          <a:p>
            <a:endParaRPr lang="en-US" sz="1000" dirty="0">
              <a:latin typeface="Comic Sans MS" panose="030F09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32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25DBD-922C-8444-394F-5F4AF0592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77" y="213326"/>
            <a:ext cx="9475554" cy="1077916"/>
          </a:xfrm>
        </p:spPr>
        <p:txBody>
          <a:bodyPr>
            <a:normAutofit fontScale="90000"/>
          </a:bodyPr>
          <a:lstStyle/>
          <a:p>
            <a:r>
              <a:rPr lang="en-US" dirty="0"/>
              <a:t>logical Model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Assign the foreign key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860CFCD-4908-D893-440C-07785ABB6F42}"/>
              </a:ext>
            </a:extLst>
          </p:cNvPr>
          <p:cNvGrpSpPr/>
          <p:nvPr/>
        </p:nvGrpSpPr>
        <p:grpSpPr>
          <a:xfrm>
            <a:off x="464353" y="2281439"/>
            <a:ext cx="5865856" cy="2220712"/>
            <a:chOff x="1140774" y="3667570"/>
            <a:chExt cx="5865856" cy="2220712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3EA408E-393B-10A9-1683-66F5C2D14DBE}"/>
                </a:ext>
              </a:extLst>
            </p:cNvPr>
            <p:cNvSpPr/>
            <p:nvPr/>
          </p:nvSpPr>
          <p:spPr>
            <a:xfrm>
              <a:off x="2018996" y="4272077"/>
              <a:ext cx="724205" cy="53401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Person</a:t>
              </a:r>
            </a:p>
          </p:txBody>
        </p:sp>
        <p:sp>
          <p:nvSpPr>
            <p:cNvPr id="23" name="Diamond 22">
              <a:extLst>
                <a:ext uri="{FF2B5EF4-FFF2-40B4-BE49-F238E27FC236}">
                  <a16:creationId xmlns:a16="http://schemas.microsoft.com/office/drawing/2014/main" id="{90310C9C-DD87-CEBA-66AE-175A6093A6BB}"/>
                </a:ext>
              </a:extLst>
            </p:cNvPr>
            <p:cNvSpPr/>
            <p:nvPr/>
          </p:nvSpPr>
          <p:spPr>
            <a:xfrm>
              <a:off x="3512210" y="4213555"/>
              <a:ext cx="790042" cy="651053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own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FCA3C0F-8DD3-72C0-46F3-CBD410D26F7E}"/>
                </a:ext>
              </a:extLst>
            </p:cNvPr>
            <p:cNvSpPr/>
            <p:nvPr/>
          </p:nvSpPr>
          <p:spPr>
            <a:xfrm>
              <a:off x="5237635" y="4266671"/>
              <a:ext cx="724205" cy="53401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Car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A7BF5BD-DB61-C94F-D7E1-386C00B18216}"/>
                </a:ext>
              </a:extLst>
            </p:cNvPr>
            <p:cNvCxnSpPr>
              <a:stCxn id="22" idx="3"/>
              <a:endCxn id="23" idx="1"/>
            </p:cNvCxnSpPr>
            <p:nvPr/>
          </p:nvCxnSpPr>
          <p:spPr>
            <a:xfrm>
              <a:off x="2743201" y="4539082"/>
              <a:ext cx="76900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72A0580-8BD1-F733-9887-41BBCAA1404E}"/>
                </a:ext>
              </a:extLst>
            </p:cNvPr>
            <p:cNvCxnSpPr>
              <a:cxnSpLocks/>
              <a:stCxn id="23" idx="3"/>
              <a:endCxn id="26" idx="1"/>
            </p:cNvCxnSpPr>
            <p:nvPr/>
          </p:nvCxnSpPr>
          <p:spPr>
            <a:xfrm flipV="1">
              <a:off x="4302252" y="4533676"/>
              <a:ext cx="935383" cy="540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0832F9E-256F-FB0F-C7DB-42489EE0F38C}"/>
                </a:ext>
              </a:extLst>
            </p:cNvPr>
            <p:cNvCxnSpPr/>
            <p:nvPr/>
          </p:nvCxnSpPr>
          <p:spPr>
            <a:xfrm flipH="1">
              <a:off x="1931213" y="4806087"/>
              <a:ext cx="202387" cy="45354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Connector 33">
              <a:extLst>
                <a:ext uri="{FF2B5EF4-FFF2-40B4-BE49-F238E27FC236}">
                  <a16:creationId xmlns:a16="http://schemas.microsoft.com/office/drawing/2014/main" id="{63C2B307-EFD6-F9E2-B731-F5162144B834}"/>
                </a:ext>
              </a:extLst>
            </p:cNvPr>
            <p:cNvSpPr/>
            <p:nvPr/>
          </p:nvSpPr>
          <p:spPr>
            <a:xfrm>
              <a:off x="1894241" y="5234115"/>
              <a:ext cx="73151" cy="110876"/>
            </a:xfrm>
            <a:prstGeom prst="flowChartConnector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Connector 35">
              <a:extLst>
                <a:ext uri="{FF2B5EF4-FFF2-40B4-BE49-F238E27FC236}">
                  <a16:creationId xmlns:a16="http://schemas.microsoft.com/office/drawing/2014/main" id="{98CDC1C8-2D01-3726-8548-95B06A5219AF}"/>
                </a:ext>
              </a:extLst>
            </p:cNvPr>
            <p:cNvSpPr/>
            <p:nvPr/>
          </p:nvSpPr>
          <p:spPr>
            <a:xfrm>
              <a:off x="2478183" y="5285026"/>
              <a:ext cx="73151" cy="110876"/>
            </a:xfrm>
            <a:prstGeom prst="flowChartConnector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Connector 36">
              <a:extLst>
                <a:ext uri="{FF2B5EF4-FFF2-40B4-BE49-F238E27FC236}">
                  <a16:creationId xmlns:a16="http://schemas.microsoft.com/office/drawing/2014/main" id="{4B503699-6C64-D93F-CD86-D48FC413CAF8}"/>
                </a:ext>
              </a:extLst>
            </p:cNvPr>
            <p:cNvSpPr/>
            <p:nvPr/>
          </p:nvSpPr>
          <p:spPr>
            <a:xfrm>
              <a:off x="1664909" y="4264187"/>
              <a:ext cx="73151" cy="110876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Connector 37">
              <a:extLst>
                <a:ext uri="{FF2B5EF4-FFF2-40B4-BE49-F238E27FC236}">
                  <a16:creationId xmlns:a16="http://schemas.microsoft.com/office/drawing/2014/main" id="{0EB3CE95-99BA-5C6C-6B95-089E399C6C90}"/>
                </a:ext>
              </a:extLst>
            </p:cNvPr>
            <p:cNvSpPr/>
            <p:nvPr/>
          </p:nvSpPr>
          <p:spPr>
            <a:xfrm>
              <a:off x="5267850" y="5288890"/>
              <a:ext cx="73151" cy="110876"/>
            </a:xfrm>
            <a:prstGeom prst="flowChartConnector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Connector 38">
              <a:extLst>
                <a:ext uri="{FF2B5EF4-FFF2-40B4-BE49-F238E27FC236}">
                  <a16:creationId xmlns:a16="http://schemas.microsoft.com/office/drawing/2014/main" id="{AE8FFD12-78E5-9A90-5266-68FCE31A0119}"/>
                </a:ext>
              </a:extLst>
            </p:cNvPr>
            <p:cNvSpPr/>
            <p:nvPr/>
          </p:nvSpPr>
          <p:spPr>
            <a:xfrm>
              <a:off x="5984940" y="5339795"/>
              <a:ext cx="73151" cy="110876"/>
            </a:xfrm>
            <a:prstGeom prst="flowChartConnector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626A086-BCEB-A8C9-2214-51090394221B}"/>
                </a:ext>
              </a:extLst>
            </p:cNvPr>
            <p:cNvCxnSpPr>
              <a:cxnSpLocks/>
              <a:stCxn id="22" idx="2"/>
            </p:cNvCxnSpPr>
            <p:nvPr/>
          </p:nvCxnSpPr>
          <p:spPr>
            <a:xfrm>
              <a:off x="2381099" y="4806087"/>
              <a:ext cx="111776" cy="48346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E19B0DE-91F7-7FBC-AC4A-598A013B9F3E}"/>
                </a:ext>
              </a:extLst>
            </p:cNvPr>
            <p:cNvCxnSpPr>
              <a:cxnSpLocks/>
              <a:stCxn id="22" idx="1"/>
            </p:cNvCxnSpPr>
            <p:nvPr/>
          </p:nvCxnSpPr>
          <p:spPr>
            <a:xfrm flipH="1" flipV="1">
              <a:off x="1701485" y="4319625"/>
              <a:ext cx="317511" cy="21945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67762EA-14FC-13E3-2365-21D0E90E3B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04426" y="4800681"/>
              <a:ext cx="131171" cy="50649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53E8E98-E2F4-003A-F2FA-ADCDECA6C67D}"/>
                </a:ext>
              </a:extLst>
            </p:cNvPr>
            <p:cNvCxnSpPr>
              <a:cxnSpLocks/>
            </p:cNvCxnSpPr>
            <p:nvPr/>
          </p:nvCxnSpPr>
          <p:spPr>
            <a:xfrm>
              <a:off x="5819421" y="4816001"/>
              <a:ext cx="183499" cy="52446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EA01D87-5193-90C9-9F35-45DFFF89AE89}"/>
                </a:ext>
              </a:extLst>
            </p:cNvPr>
            <p:cNvSpPr txBox="1"/>
            <p:nvPr/>
          </p:nvSpPr>
          <p:spPr>
            <a:xfrm>
              <a:off x="1140774" y="4007574"/>
              <a:ext cx="7900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Comic Sans MS" panose="030F0902030302020204" pitchFamily="66" charset="0"/>
                </a:rPr>
                <a:t>IDPerson</a:t>
              </a:r>
              <a:endParaRPr lang="en-US" sz="1000" dirty="0">
                <a:latin typeface="Comic Sans MS" panose="030F0902030302020204" pitchFamily="66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033417E-63EE-12D1-0A70-E2E24A79FA91}"/>
                </a:ext>
              </a:extLst>
            </p:cNvPr>
            <p:cNvSpPr txBox="1"/>
            <p:nvPr/>
          </p:nvSpPr>
          <p:spPr>
            <a:xfrm>
              <a:off x="1323313" y="5416226"/>
              <a:ext cx="10129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omic Sans MS" panose="030F0902030302020204" pitchFamily="66" charset="0"/>
                </a:rPr>
                <a:t>First Name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BA41E92-38F8-4926-A36F-6ACEFD853115}"/>
                </a:ext>
              </a:extLst>
            </p:cNvPr>
            <p:cNvSpPr txBox="1"/>
            <p:nvPr/>
          </p:nvSpPr>
          <p:spPr>
            <a:xfrm>
              <a:off x="2298177" y="5429388"/>
              <a:ext cx="10129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omic Sans MS" panose="030F0902030302020204" pitchFamily="66" charset="0"/>
                </a:rPr>
                <a:t>Family Name</a:t>
              </a:r>
            </a:p>
          </p:txBody>
        </p:sp>
        <p:sp>
          <p:nvSpPr>
            <p:cNvPr id="54" name="Connector 53">
              <a:extLst>
                <a:ext uri="{FF2B5EF4-FFF2-40B4-BE49-F238E27FC236}">
                  <a16:creationId xmlns:a16="http://schemas.microsoft.com/office/drawing/2014/main" id="{CCFADCAB-287A-1C25-8EBE-1D3699BE6DE0}"/>
                </a:ext>
              </a:extLst>
            </p:cNvPr>
            <p:cNvSpPr/>
            <p:nvPr/>
          </p:nvSpPr>
          <p:spPr>
            <a:xfrm>
              <a:off x="6238646" y="4133809"/>
              <a:ext cx="73151" cy="110876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5B5C874-5849-DCF0-07BB-E9E52795B1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63106" y="4209418"/>
              <a:ext cx="280936" cy="21993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E02F2D5-12FD-2EBA-D012-8116E4367094}"/>
                </a:ext>
              </a:extLst>
            </p:cNvPr>
            <p:cNvSpPr txBox="1"/>
            <p:nvPr/>
          </p:nvSpPr>
          <p:spPr>
            <a:xfrm>
              <a:off x="4964251" y="5435032"/>
              <a:ext cx="68034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omic Sans MS" panose="030F0902030302020204" pitchFamily="66" charset="0"/>
                </a:rPr>
                <a:t>Model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7550C60-0DD6-8D1E-6073-28D4CFDE0CC1}"/>
                </a:ext>
              </a:extLst>
            </p:cNvPr>
            <p:cNvSpPr txBox="1"/>
            <p:nvPr/>
          </p:nvSpPr>
          <p:spPr>
            <a:xfrm>
              <a:off x="5946775" y="5484811"/>
              <a:ext cx="68034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omic Sans MS" panose="030F0902030302020204" pitchFamily="66" charset="0"/>
                </a:rPr>
                <a:t>Brand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6358197-6BFC-6FBC-464F-2E2641E5A7E6}"/>
                </a:ext>
              </a:extLst>
            </p:cNvPr>
            <p:cNvSpPr txBox="1"/>
            <p:nvPr/>
          </p:nvSpPr>
          <p:spPr>
            <a:xfrm>
              <a:off x="6326283" y="3884463"/>
              <a:ext cx="6803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omic Sans MS" panose="030F0902030302020204" pitchFamily="66" charset="0"/>
                </a:rPr>
                <a:t>License Plate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2B50057-4C44-1969-DC89-D0DEFFEC9BBE}"/>
                </a:ext>
              </a:extLst>
            </p:cNvPr>
            <p:cNvSpPr txBox="1"/>
            <p:nvPr/>
          </p:nvSpPr>
          <p:spPr>
            <a:xfrm>
              <a:off x="2700192" y="4257118"/>
              <a:ext cx="5447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omic Sans MS" panose="030F0902030302020204" pitchFamily="66" charset="0"/>
                </a:rPr>
                <a:t>(0,N)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1C7E83F9-DA94-87F5-2434-49042F895B43}"/>
                </a:ext>
              </a:extLst>
            </p:cNvPr>
            <p:cNvSpPr txBox="1"/>
            <p:nvPr/>
          </p:nvSpPr>
          <p:spPr>
            <a:xfrm>
              <a:off x="4786567" y="4264187"/>
              <a:ext cx="5447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omic Sans MS" panose="030F0902030302020204" pitchFamily="66" charset="0"/>
                </a:rPr>
                <a:t>(1,1)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7275464-4F84-285D-6602-5FBA90EDD32A}"/>
                </a:ext>
              </a:extLst>
            </p:cNvPr>
            <p:cNvSpPr txBox="1"/>
            <p:nvPr/>
          </p:nvSpPr>
          <p:spPr>
            <a:xfrm>
              <a:off x="2069154" y="3965548"/>
              <a:ext cx="68034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1"/>
                  </a:solidFill>
                  <a:latin typeface="Comic Sans MS" panose="030F0902030302020204" pitchFamily="66" charset="0"/>
                </a:rPr>
                <a:t>Entity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19F5D46-1798-3859-1F64-03A4B3E2E863}"/>
                </a:ext>
              </a:extLst>
            </p:cNvPr>
            <p:cNvSpPr txBox="1"/>
            <p:nvPr/>
          </p:nvSpPr>
          <p:spPr>
            <a:xfrm>
              <a:off x="3561169" y="3860594"/>
              <a:ext cx="68034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1"/>
                  </a:solidFill>
                  <a:latin typeface="Comic Sans MS" panose="030F0902030302020204" pitchFamily="66" charset="0"/>
                </a:rPr>
                <a:t>Relation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21A95E4-E262-2A50-0DFF-CA0F41C8BEA7}"/>
                </a:ext>
              </a:extLst>
            </p:cNvPr>
            <p:cNvSpPr txBox="1"/>
            <p:nvPr/>
          </p:nvSpPr>
          <p:spPr>
            <a:xfrm>
              <a:off x="5848116" y="5642061"/>
              <a:ext cx="8542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1"/>
                  </a:solidFill>
                  <a:latin typeface="Comic Sans MS" panose="030F0902030302020204" pitchFamily="66" charset="0"/>
                </a:rPr>
                <a:t>Attribute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53DB783-A7A6-9357-2586-6A265228563B}"/>
                </a:ext>
              </a:extLst>
            </p:cNvPr>
            <p:cNvSpPr txBox="1"/>
            <p:nvPr/>
          </p:nvSpPr>
          <p:spPr>
            <a:xfrm>
              <a:off x="5834863" y="3667570"/>
              <a:ext cx="112532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1"/>
                  </a:solidFill>
                  <a:latin typeface="Comic Sans MS" panose="030F0902030302020204" pitchFamily="66" charset="0"/>
                </a:rPr>
                <a:t>Key Attribute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85BF5FA-2EF8-FC8E-7C93-D2A1ACF8E0A5}"/>
                </a:ext>
              </a:extLst>
            </p:cNvPr>
            <p:cNvSpPr txBox="1"/>
            <p:nvPr/>
          </p:nvSpPr>
          <p:spPr>
            <a:xfrm>
              <a:off x="2652724" y="4041712"/>
              <a:ext cx="10000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1"/>
                  </a:solidFill>
                  <a:latin typeface="Comic Sans MS" panose="030F0902030302020204" pitchFamily="66" charset="0"/>
                </a:rPr>
                <a:t>Multiplicity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35137C0-6060-80B3-ACD6-6AE41F31F2FD}"/>
                </a:ext>
              </a:extLst>
            </p:cNvPr>
            <p:cNvSpPr txBox="1"/>
            <p:nvPr/>
          </p:nvSpPr>
          <p:spPr>
            <a:xfrm>
              <a:off x="3691840" y="4924709"/>
              <a:ext cx="5447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omic Sans MS" panose="030F0902030302020204" pitchFamily="66" charset="0"/>
                </a:rPr>
                <a:t>(1,N)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63FB307-6F5F-A81E-8523-1A22EA50F492}"/>
                </a:ext>
              </a:extLst>
            </p:cNvPr>
            <p:cNvSpPr txBox="1"/>
            <p:nvPr/>
          </p:nvSpPr>
          <p:spPr>
            <a:xfrm>
              <a:off x="3500857" y="5115757"/>
              <a:ext cx="86134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1"/>
                  </a:solidFill>
                  <a:latin typeface="Comic Sans MS" panose="030F0902030302020204" pitchFamily="66" charset="0"/>
                </a:rPr>
                <a:t>Cardinality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203A877-7C7B-A4AC-21F9-BD2873496A10}"/>
                </a:ext>
              </a:extLst>
            </p:cNvPr>
            <p:cNvSpPr txBox="1"/>
            <p:nvPr/>
          </p:nvSpPr>
          <p:spPr>
            <a:xfrm>
              <a:off x="4451101" y="4081505"/>
              <a:ext cx="10000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1"/>
                  </a:solidFill>
                  <a:latin typeface="Comic Sans MS" panose="030F0902030302020204" pitchFamily="66" charset="0"/>
                </a:rPr>
                <a:t>Multiplicity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0A9AE68-9EE0-286A-8B0A-A289A25F0844}"/>
              </a:ext>
            </a:extLst>
          </p:cNvPr>
          <p:cNvSpPr txBox="1"/>
          <p:nvPr/>
        </p:nvSpPr>
        <p:spPr>
          <a:xfrm>
            <a:off x="257499" y="1559957"/>
            <a:ext cx="107739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Comic Sans MS" panose="030F0902030302020204" pitchFamily="66" charset="0"/>
              </a:defRPr>
            </a:lvl1pPr>
          </a:lstStyle>
          <a:p>
            <a:r>
              <a:rPr lang="en-US" dirty="0"/>
              <a:t>Foreign key allows to repristinate the relation between the tables. </a:t>
            </a:r>
            <a:r>
              <a:rPr lang="en-GB" dirty="0"/>
              <a:t>But where should the foreign key be placed? In which table? The persons table or the Cars table?</a:t>
            </a:r>
          </a:p>
          <a:p>
            <a:r>
              <a:rPr lang="en-GB" dirty="0"/>
              <a:t>The tools to use is the cardinality</a:t>
            </a:r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E54577-594C-85A8-454D-29C99CBDF021}"/>
              </a:ext>
            </a:extLst>
          </p:cNvPr>
          <p:cNvSpPr txBox="1"/>
          <p:nvPr/>
        </p:nvSpPr>
        <p:spPr>
          <a:xfrm>
            <a:off x="7232088" y="3008111"/>
            <a:ext cx="46235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mic Sans MS" panose="030F0902030302020204" pitchFamily="66" charset="0"/>
              </a:rPr>
              <a:t>Persons (PK. </a:t>
            </a:r>
            <a:r>
              <a:rPr lang="en-US" sz="1000" dirty="0" err="1">
                <a:latin typeface="Comic Sans MS" panose="030F0902030302020204" pitchFamily="66" charset="0"/>
              </a:rPr>
              <a:t>ID_person</a:t>
            </a:r>
            <a:r>
              <a:rPr lang="en-US" sz="1000" dirty="0">
                <a:latin typeface="Comic Sans MS" panose="030F0902030302020204" pitchFamily="66" charset="0"/>
              </a:rPr>
              <a:t>, First name, Family name)</a:t>
            </a:r>
          </a:p>
          <a:p>
            <a:r>
              <a:rPr lang="en-US" sz="1000" dirty="0">
                <a:latin typeface="Comic Sans MS" panose="030F0902030302020204" pitchFamily="66" charset="0"/>
              </a:rPr>
              <a:t>Cars (PK </a:t>
            </a:r>
            <a:r>
              <a:rPr lang="en-US" sz="1000" dirty="0" err="1">
                <a:latin typeface="Comic Sans MS" panose="030F0902030302020204" pitchFamily="66" charset="0"/>
              </a:rPr>
              <a:t>Licence</a:t>
            </a:r>
            <a:r>
              <a:rPr lang="en-US" sz="1000" dirty="0">
                <a:latin typeface="Comic Sans MS" panose="030F0902030302020204" pitchFamily="66" charset="0"/>
              </a:rPr>
              <a:t> plate, Brand, Model)</a:t>
            </a:r>
          </a:p>
          <a:p>
            <a:endParaRPr lang="en-US" sz="1000" dirty="0">
              <a:latin typeface="Comic Sans MS" panose="030F0902030302020204" pitchFamily="66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9EC8D3-7F44-EB0D-8485-7E63D51513F2}"/>
              </a:ext>
            </a:extLst>
          </p:cNvPr>
          <p:cNvSpPr txBox="1"/>
          <p:nvPr/>
        </p:nvSpPr>
        <p:spPr>
          <a:xfrm>
            <a:off x="606434" y="4871797"/>
            <a:ext cx="79095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H" sz="1200" b="1" i="0" u="none" strike="noStrike" dirty="0">
                <a:solidFill>
                  <a:srgbClr val="000000"/>
                </a:solidFill>
                <a:effectLst/>
              </a:rPr>
              <a:t>⭐ </a:t>
            </a:r>
            <a:r>
              <a:rPr lang="en-GB" sz="1200" b="1" i="0" u="none" strike="noStrike" dirty="0">
                <a:solidFill>
                  <a:srgbClr val="000000"/>
                </a:solidFill>
                <a:effectLst/>
              </a:rPr>
              <a:t>The simple rule for where to put a foreign key</a:t>
            </a:r>
          </a:p>
          <a:p>
            <a:pPr algn="l"/>
            <a:r>
              <a:rPr lang="en-GB" sz="1200" b="0" i="0" u="none" strike="noStrike" dirty="0">
                <a:solidFill>
                  <a:srgbClr val="000000"/>
                </a:solidFill>
                <a:effectLst/>
              </a:rPr>
              <a:t>A </a:t>
            </a:r>
            <a:r>
              <a:rPr lang="en-GB" sz="1200" b="1" i="0" u="none" strike="noStrike" dirty="0">
                <a:solidFill>
                  <a:srgbClr val="000000"/>
                </a:solidFill>
                <a:effectLst/>
              </a:rPr>
              <a:t>foreign key goes in the table that represents the “many” side</a:t>
            </a:r>
            <a:r>
              <a:rPr lang="en-GB" sz="1200" b="0" i="0" u="none" strike="noStrike" dirty="0">
                <a:solidFill>
                  <a:srgbClr val="000000"/>
                </a:solidFill>
                <a:effectLst/>
              </a:rPr>
              <a:t> of a relationship.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200" b="1" i="0" u="none" strike="noStrike" dirty="0">
                <a:solidFill>
                  <a:srgbClr val="000000"/>
                </a:solidFill>
                <a:effectLst/>
              </a:rPr>
              <a:t>One-to-many:</a:t>
            </a:r>
            <a:r>
              <a:rPr lang="en-GB" sz="1200" b="0" i="0" u="none" strike="noStrike" dirty="0">
                <a:solidFill>
                  <a:srgbClr val="000000"/>
                </a:solidFill>
                <a:effectLst/>
              </a:rPr>
              <a:t> put the FK on the </a:t>
            </a:r>
            <a:r>
              <a:rPr lang="en-GB" sz="1200" b="1" i="0" u="none" strike="noStrike" dirty="0">
                <a:solidFill>
                  <a:srgbClr val="000000"/>
                </a:solidFill>
                <a:effectLst/>
              </a:rPr>
              <a:t>many</a:t>
            </a:r>
            <a:r>
              <a:rPr lang="en-GB" sz="1200" b="0" i="0" u="none" strike="noStrike" dirty="0">
                <a:solidFill>
                  <a:srgbClr val="000000"/>
                </a:solidFill>
                <a:effectLst/>
              </a:rPr>
              <a:t> side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200" b="1" i="0" u="none" strike="noStrike" dirty="0">
                <a:solidFill>
                  <a:srgbClr val="000000"/>
                </a:solidFill>
                <a:effectLst/>
              </a:rPr>
              <a:t>Many-to-many:</a:t>
            </a:r>
            <a:r>
              <a:rPr lang="en-GB" sz="1200" b="0" i="0" u="none" strike="noStrike" dirty="0">
                <a:solidFill>
                  <a:srgbClr val="000000"/>
                </a:solidFill>
                <a:effectLst/>
              </a:rPr>
              <a:t> use a </a:t>
            </a:r>
            <a:r>
              <a:rPr lang="en-GB" sz="1200" b="1" i="0" u="none" strike="noStrike" dirty="0">
                <a:solidFill>
                  <a:srgbClr val="000000"/>
                </a:solidFill>
                <a:effectLst/>
              </a:rPr>
              <a:t>link/junction table</a:t>
            </a:r>
            <a:r>
              <a:rPr lang="en-GB" sz="1200" b="0" i="0" u="none" strike="noStrike" dirty="0">
                <a:solidFill>
                  <a:srgbClr val="000000"/>
                </a:solidFill>
                <a:effectLst/>
              </a:rPr>
              <a:t>, and both FKs go there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200" b="1" i="0" u="none" strike="noStrike" dirty="0">
                <a:solidFill>
                  <a:srgbClr val="000000"/>
                </a:solidFill>
                <a:effectLst/>
              </a:rPr>
              <a:t>One-to-one:</a:t>
            </a:r>
            <a:r>
              <a:rPr lang="en-GB" sz="1200" b="0" i="0" u="none" strike="noStrike" dirty="0">
                <a:solidFill>
                  <a:srgbClr val="000000"/>
                </a:solidFill>
                <a:effectLst/>
              </a:rPr>
              <a:t> either side </a:t>
            </a:r>
            <a:r>
              <a:rPr lang="en-GB" sz="1200" b="0" i="1" u="none" strike="noStrike" dirty="0">
                <a:solidFill>
                  <a:srgbClr val="000000"/>
                </a:solidFill>
                <a:effectLst/>
              </a:rPr>
              <a:t>can</a:t>
            </a:r>
            <a:r>
              <a:rPr lang="en-GB" sz="1200" b="0" i="0" u="none" strike="noStrike" dirty="0">
                <a:solidFill>
                  <a:srgbClr val="000000"/>
                </a:solidFill>
                <a:effectLst/>
              </a:rPr>
              <a:t> hold the FK, but usually the optional/child/detail side does</a:t>
            </a:r>
          </a:p>
          <a:p>
            <a:pPr algn="l"/>
            <a:r>
              <a:rPr lang="en-GB" sz="1200" b="0" i="0" u="none" strike="noStrike" dirty="0">
                <a:solidFill>
                  <a:srgbClr val="000000"/>
                </a:solidFill>
                <a:effectLst/>
              </a:rPr>
              <a:t>This rule works for almost everything in beginner database design.</a:t>
            </a:r>
          </a:p>
        </p:txBody>
      </p:sp>
    </p:spTree>
    <p:extLst>
      <p:ext uri="{BB962C8B-B14F-4D97-AF65-F5344CB8AC3E}">
        <p14:creationId xmlns:p14="http://schemas.microsoft.com/office/powerpoint/2010/main" val="348799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B95D1-CDDE-7460-2574-48F8AC12E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F07AD-4CC9-43E2-97E2-1C93D6B163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Assure quality in DB design</a:t>
            </a:r>
          </a:p>
        </p:txBody>
      </p:sp>
    </p:spTree>
    <p:extLst>
      <p:ext uri="{BB962C8B-B14F-4D97-AF65-F5344CB8AC3E}">
        <p14:creationId xmlns:p14="http://schemas.microsoft.com/office/powerpoint/2010/main" val="339663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25DBD-922C-8444-394F-5F4AF0592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77" y="213326"/>
            <a:ext cx="9475554" cy="1077916"/>
          </a:xfrm>
        </p:spPr>
        <p:txBody>
          <a:bodyPr>
            <a:normAutofit fontScale="90000"/>
          </a:bodyPr>
          <a:lstStyle/>
          <a:p>
            <a:r>
              <a:rPr lang="en-US" dirty="0"/>
              <a:t>logical Model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NORMALIZATION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A9AE68-9EE0-286A-8B0A-A289A25F0844}"/>
              </a:ext>
            </a:extLst>
          </p:cNvPr>
          <p:cNvSpPr txBox="1"/>
          <p:nvPr/>
        </p:nvSpPr>
        <p:spPr>
          <a:xfrm>
            <a:off x="242877" y="1291242"/>
            <a:ext cx="1077391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Comic Sans MS" panose="030F0902030302020204" pitchFamily="66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de-CH" sz="1200" dirty="0" err="1"/>
              <a:t>Why</a:t>
            </a:r>
            <a:r>
              <a:rPr lang="de-CH" sz="1200" dirty="0"/>
              <a:t> </a:t>
            </a:r>
            <a:r>
              <a:rPr lang="de-CH" sz="1200" dirty="0" err="1"/>
              <a:t>we</a:t>
            </a:r>
            <a:r>
              <a:rPr lang="de-CH" sz="1200" dirty="0"/>
              <a:t> </a:t>
            </a:r>
            <a:r>
              <a:rPr lang="de-CH" sz="1200" dirty="0" err="1"/>
              <a:t>normalize</a:t>
            </a:r>
            <a:r>
              <a:rPr lang="de-CH" sz="1200" dirty="0"/>
              <a:t> ? </a:t>
            </a:r>
            <a:r>
              <a:rPr lang="de-CH" sz="1200" dirty="0" err="1"/>
              <a:t>Normalization</a:t>
            </a:r>
            <a:r>
              <a:rPr lang="de-CH" sz="1200" dirty="0"/>
              <a:t> </a:t>
            </a:r>
            <a:r>
              <a:rPr lang="de-CH" sz="1200" dirty="0" err="1"/>
              <a:t>is</a:t>
            </a:r>
            <a:r>
              <a:rPr lang="de-CH" sz="1200" dirty="0"/>
              <a:t> </a:t>
            </a:r>
            <a:r>
              <a:rPr lang="de-CH" sz="1200" dirty="0" err="1"/>
              <a:t>used</a:t>
            </a:r>
            <a:r>
              <a:rPr lang="de-CH" sz="1200" dirty="0"/>
              <a:t> </a:t>
            </a:r>
            <a:r>
              <a:rPr lang="de-CH" sz="1200" dirty="0" err="1"/>
              <a:t>improve</a:t>
            </a:r>
            <a:r>
              <a:rPr lang="de-CH" sz="1200" dirty="0"/>
              <a:t> </a:t>
            </a:r>
            <a:r>
              <a:rPr lang="de-CH" sz="1200" dirty="0" err="1"/>
              <a:t>quality</a:t>
            </a:r>
            <a:r>
              <a:rPr lang="de-CH" sz="1200" dirty="0"/>
              <a:t> </a:t>
            </a:r>
            <a:r>
              <a:rPr lang="de-CH" sz="1200" dirty="0" err="1"/>
              <a:t>into</a:t>
            </a:r>
            <a:r>
              <a:rPr lang="de-CH" sz="1200" dirty="0"/>
              <a:t> DB design:</a:t>
            </a:r>
          </a:p>
          <a:p>
            <a:pPr>
              <a:lnSpc>
                <a:spcPct val="150000"/>
              </a:lnSpc>
            </a:pPr>
            <a:r>
              <a:rPr lang="en-GB" sz="1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✔ reduce redundancy (avoid repeating data)</a:t>
            </a:r>
            <a:br>
              <a:rPr lang="en-GB" sz="1200" dirty="0"/>
            </a:br>
            <a:r>
              <a:rPr lang="en-GB" sz="1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✔ improve data integrity (avoid inconsistencies)</a:t>
            </a:r>
            <a:br>
              <a:rPr lang="en-GB" sz="1200" dirty="0"/>
            </a:br>
            <a:r>
              <a:rPr lang="en-GB" sz="1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✔ make the database easier to maintain</a:t>
            </a:r>
            <a:r>
              <a:rPr lang="de-CH" sz="1200" dirty="0"/>
              <a:t> </a:t>
            </a:r>
            <a:endParaRPr lang="en-US" sz="1200" dirty="0"/>
          </a:p>
          <a:p>
            <a:endParaRPr lang="en-US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2C2E6EAC-2918-A8B0-6698-89F96B6E84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939319"/>
              </p:ext>
            </p:extLst>
          </p:nvPr>
        </p:nvGraphicFramePr>
        <p:xfrm>
          <a:off x="360947" y="2655522"/>
          <a:ext cx="11201400" cy="283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>
                  <a:extLst>
                    <a:ext uri="{9D8B030D-6E8A-4147-A177-3AD203B41FA5}">
                      <a16:colId xmlns:a16="http://schemas.microsoft.com/office/drawing/2014/main" val="1880489042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14445989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7590411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Normal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Explanation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1956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1NF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 Primary Key available</a:t>
                      </a:r>
                    </a:p>
                    <a:p>
                      <a:r>
                        <a:rPr lang="en-US" dirty="0"/>
                        <a:t>2. Atomic attribute</a:t>
                      </a:r>
                    </a:p>
                    <a:p>
                      <a:r>
                        <a:rPr lang="en-US" dirty="0"/>
                        <a:t>3. No repeating groups (anomalies)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Raw are unique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Attributes are not anymore breakable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070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Remove partial dependencies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38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3NF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Remove transitive dependencies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00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4912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B95D1-CDDE-7460-2574-48F8AC12E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normal form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F07AD-4CC9-43E2-97E2-1C93D6B163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Assure quality in DB design</a:t>
            </a:r>
          </a:p>
        </p:txBody>
      </p:sp>
    </p:spTree>
    <p:extLst>
      <p:ext uri="{BB962C8B-B14F-4D97-AF65-F5344CB8AC3E}">
        <p14:creationId xmlns:p14="http://schemas.microsoft.com/office/powerpoint/2010/main" val="2412849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25DBD-922C-8444-394F-5F4AF0592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77" y="213326"/>
            <a:ext cx="9475554" cy="1077916"/>
          </a:xfrm>
        </p:spPr>
        <p:txBody>
          <a:bodyPr>
            <a:normAutofit fontScale="90000"/>
          </a:bodyPr>
          <a:lstStyle/>
          <a:p>
            <a:r>
              <a:rPr lang="en-US" dirty="0"/>
              <a:t>Normalization  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1nf – Atomic Attribute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2C2E6EAC-2918-A8B0-6698-89F96B6E84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509172"/>
              </p:ext>
            </p:extLst>
          </p:nvPr>
        </p:nvGraphicFramePr>
        <p:xfrm>
          <a:off x="242877" y="1590809"/>
          <a:ext cx="112014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350">
                  <a:extLst>
                    <a:ext uri="{9D8B030D-6E8A-4147-A177-3AD203B41FA5}">
                      <a16:colId xmlns:a16="http://schemas.microsoft.com/office/drawing/2014/main" val="1880489042"/>
                    </a:ext>
                  </a:extLst>
                </a:gridCol>
                <a:gridCol w="1503721">
                  <a:extLst>
                    <a:ext uri="{9D8B030D-6E8A-4147-A177-3AD203B41FA5}">
                      <a16:colId xmlns:a16="http://schemas.microsoft.com/office/drawing/2014/main" val="2144459890"/>
                    </a:ext>
                  </a:extLst>
                </a:gridCol>
                <a:gridCol w="1703540">
                  <a:extLst>
                    <a:ext uri="{9D8B030D-6E8A-4147-A177-3AD203B41FA5}">
                      <a16:colId xmlns:a16="http://schemas.microsoft.com/office/drawing/2014/main" val="2759041163"/>
                    </a:ext>
                  </a:extLst>
                </a:gridCol>
                <a:gridCol w="5193789">
                  <a:extLst>
                    <a:ext uri="{9D8B030D-6E8A-4147-A177-3AD203B41FA5}">
                      <a16:colId xmlns:a16="http://schemas.microsoft.com/office/drawing/2014/main" val="577099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PersonID</a:t>
                      </a:r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Surname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1956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JNDH02343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/>
                        <a:t>Doe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 err="1"/>
                        <a:t>Boulevar</a:t>
                      </a:r>
                      <a:r>
                        <a:rPr lang="en-US" dirty="0"/>
                        <a:t> Street 45 – ZIP 20300 – Mountain Rock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07093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871A677-33F9-EAB5-60CA-D87B0BCA1608}"/>
              </a:ext>
            </a:extLst>
          </p:cNvPr>
          <p:cNvSpPr txBox="1"/>
          <p:nvPr/>
        </p:nvSpPr>
        <p:spPr>
          <a:xfrm>
            <a:off x="242877" y="2721114"/>
            <a:ext cx="110871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mic Sans MS" panose="030F0902030302020204" pitchFamily="66" charset="0"/>
              </a:rPr>
              <a:t>Is the above table in 1NF ? No</a:t>
            </a:r>
          </a:p>
          <a:p>
            <a:r>
              <a:rPr lang="en-GB" sz="1000" dirty="0"/>
              <a:t>We have a primary key and no repeating groups; however, the attributes are not fully atomic because the </a:t>
            </a:r>
            <a:r>
              <a:rPr lang="en-GB" sz="1000" i="1" dirty="0"/>
              <a:t>address</a:t>
            </a:r>
            <a:r>
              <a:rPr lang="en-GB" sz="1000" dirty="0"/>
              <a:t> field can be decomposed into separate columns. This matters because, without </a:t>
            </a:r>
            <a:r>
              <a:rPr lang="en-GB" sz="1000" dirty="0">
                <a:latin typeface="Comic Sans MS" panose="030F0902030302020204" pitchFamily="66" charset="0"/>
              </a:rPr>
              <a:t>breaking</a:t>
            </a:r>
            <a:r>
              <a:rPr lang="en-GB" sz="1000" dirty="0"/>
              <a:t> the address into components such as street, city, and ZIP code, it becomes impossible to perform queries—for example, filtering records by ZIP code.</a:t>
            </a:r>
            <a:endParaRPr lang="en-US" sz="1000" dirty="0">
              <a:latin typeface="Comic Sans MS" panose="030F0902030302020204" pitchFamily="66" charset="0"/>
            </a:endParaRPr>
          </a:p>
          <a:p>
            <a:endParaRPr lang="en-US" sz="1000" dirty="0">
              <a:latin typeface="Comic Sans MS" panose="030F0902030302020204" pitchFamily="66" charset="0"/>
            </a:endParaRPr>
          </a:p>
        </p:txBody>
      </p:sp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2ED58F78-3FC8-CA58-E499-682C01AB4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644736"/>
              </p:ext>
            </p:extLst>
          </p:nvPr>
        </p:nvGraphicFramePr>
        <p:xfrm>
          <a:off x="242877" y="3929197"/>
          <a:ext cx="11201402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186">
                  <a:extLst>
                    <a:ext uri="{9D8B030D-6E8A-4147-A177-3AD203B41FA5}">
                      <a16:colId xmlns:a16="http://schemas.microsoft.com/office/drawing/2014/main" val="1880489042"/>
                    </a:ext>
                  </a:extLst>
                </a:gridCol>
                <a:gridCol w="871537">
                  <a:extLst>
                    <a:ext uri="{9D8B030D-6E8A-4147-A177-3AD203B41FA5}">
                      <a16:colId xmlns:a16="http://schemas.microsoft.com/office/drawing/2014/main" val="214445989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759041163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577099688"/>
                    </a:ext>
                  </a:extLst>
                </a:gridCol>
                <a:gridCol w="1500188">
                  <a:extLst>
                    <a:ext uri="{9D8B030D-6E8A-4147-A177-3AD203B41FA5}">
                      <a16:colId xmlns:a16="http://schemas.microsoft.com/office/drawing/2014/main" val="2828348847"/>
                    </a:ext>
                  </a:extLst>
                </a:gridCol>
                <a:gridCol w="1557337">
                  <a:extLst>
                    <a:ext uri="{9D8B030D-6E8A-4147-A177-3AD203B41FA5}">
                      <a16:colId xmlns:a16="http://schemas.microsoft.com/office/drawing/2014/main" val="750990513"/>
                    </a:ext>
                  </a:extLst>
                </a:gridCol>
                <a:gridCol w="2214554">
                  <a:extLst>
                    <a:ext uri="{9D8B030D-6E8A-4147-A177-3AD203B41FA5}">
                      <a16:colId xmlns:a16="http://schemas.microsoft.com/office/drawing/2014/main" val="2669327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PersonID</a:t>
                      </a:r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Surname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Street 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Zip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1956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JNDH023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/>
                        <a:t>Doe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 err="1"/>
                        <a:t>Boulevar</a:t>
                      </a:r>
                      <a:r>
                        <a:rPr lang="en-US" dirty="0"/>
                        <a:t> Street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/>
                        <a:t>20300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/>
                        <a:t>Mountain Rock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07093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38E63C3-5572-A83F-4B86-F299238B0557}"/>
              </a:ext>
            </a:extLst>
          </p:cNvPr>
          <p:cNvSpPr txBox="1"/>
          <p:nvPr/>
        </p:nvSpPr>
        <p:spPr>
          <a:xfrm>
            <a:off x="242876" y="3555988"/>
            <a:ext cx="110871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mic Sans MS" panose="030F0902030302020204" pitchFamily="66" charset="0"/>
              </a:rPr>
              <a:t>Solution:</a:t>
            </a:r>
          </a:p>
        </p:txBody>
      </p:sp>
    </p:spTree>
    <p:extLst>
      <p:ext uri="{BB962C8B-B14F-4D97-AF65-F5344CB8AC3E}">
        <p14:creationId xmlns:p14="http://schemas.microsoft.com/office/powerpoint/2010/main" val="1071052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25DBD-922C-8444-394F-5F4AF0592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77" y="213326"/>
            <a:ext cx="9475554" cy="1077916"/>
          </a:xfrm>
        </p:spPr>
        <p:txBody>
          <a:bodyPr>
            <a:normAutofit fontScale="90000"/>
          </a:bodyPr>
          <a:lstStyle/>
          <a:p>
            <a:r>
              <a:rPr lang="en-US" dirty="0"/>
              <a:t>Normalization  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1nf - Anomalies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2C2E6EAC-2918-A8B0-6698-89F96B6E84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383140"/>
              </p:ext>
            </p:extLst>
          </p:nvPr>
        </p:nvGraphicFramePr>
        <p:xfrm>
          <a:off x="242877" y="2687320"/>
          <a:ext cx="112014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350">
                  <a:extLst>
                    <a:ext uri="{9D8B030D-6E8A-4147-A177-3AD203B41FA5}">
                      <a16:colId xmlns:a16="http://schemas.microsoft.com/office/drawing/2014/main" val="1880489042"/>
                    </a:ext>
                  </a:extLst>
                </a:gridCol>
                <a:gridCol w="1503721">
                  <a:extLst>
                    <a:ext uri="{9D8B030D-6E8A-4147-A177-3AD203B41FA5}">
                      <a16:colId xmlns:a16="http://schemas.microsoft.com/office/drawing/2014/main" val="2144459890"/>
                    </a:ext>
                  </a:extLst>
                </a:gridCol>
                <a:gridCol w="1703540">
                  <a:extLst>
                    <a:ext uri="{9D8B030D-6E8A-4147-A177-3AD203B41FA5}">
                      <a16:colId xmlns:a16="http://schemas.microsoft.com/office/drawing/2014/main" val="2759041163"/>
                    </a:ext>
                  </a:extLst>
                </a:gridCol>
                <a:gridCol w="5193789">
                  <a:extLst>
                    <a:ext uri="{9D8B030D-6E8A-4147-A177-3AD203B41FA5}">
                      <a16:colId xmlns:a16="http://schemas.microsoft.com/office/drawing/2014/main" val="577099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PersonID</a:t>
                      </a:r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Surname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Hobby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1956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JNDH02343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/>
                        <a:t>Doe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/>
                        <a:t>Reading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070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JNDH02343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/>
                        <a:t>Doe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/>
                        <a:t>Bike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606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JNDH02343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/>
                        <a:t>Doe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/>
                        <a:t>Playing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939537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871A677-33F9-EAB5-60CA-D87B0BCA1608}"/>
              </a:ext>
            </a:extLst>
          </p:cNvPr>
          <p:cNvSpPr txBox="1"/>
          <p:nvPr/>
        </p:nvSpPr>
        <p:spPr>
          <a:xfrm>
            <a:off x="242877" y="1451782"/>
            <a:ext cx="1108716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70C0"/>
                </a:solidFill>
                <a:latin typeface="Comic Sans MS" panose="030F0902030302020204" pitchFamily="66" charset="0"/>
              </a:rPr>
              <a:t>What is a database anomaly ?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000" dirty="0">
                <a:latin typeface="Comic Sans MS" panose="030F0902030302020204" pitchFamily="66" charset="0"/>
              </a:rPr>
              <a:t>The problem that cause </a:t>
            </a:r>
            <a:r>
              <a:rPr lang="en-US" sz="1000" dirty="0">
                <a:solidFill>
                  <a:schemeClr val="accent1"/>
                </a:solidFill>
                <a:latin typeface="Comic Sans MS" panose="030F0902030302020204" pitchFamily="66" charset="0"/>
              </a:rPr>
              <a:t>redundant data </a:t>
            </a:r>
            <a:r>
              <a:rPr lang="en-US" sz="1000" dirty="0">
                <a:latin typeface="Comic Sans MS" panose="030F0902030302020204" pitchFamily="66" charset="0"/>
              </a:rPr>
              <a:t>in multiple fields</a:t>
            </a:r>
          </a:p>
          <a:p>
            <a:endParaRPr lang="en-US" sz="1000" dirty="0">
              <a:latin typeface="Comic Sans MS" panose="030F0902030302020204" pitchFamily="66" charset="0"/>
            </a:endParaRPr>
          </a:p>
          <a:p>
            <a:r>
              <a:rPr lang="en-US" sz="1000" b="1" dirty="0">
                <a:solidFill>
                  <a:srgbClr val="0070C0"/>
                </a:solidFill>
                <a:latin typeface="Comic Sans MS" panose="030F0902030302020204" pitchFamily="66" charset="0"/>
              </a:rPr>
              <a:t>Which problem cause the anomaly? </a:t>
            </a:r>
          </a:p>
          <a:p>
            <a:r>
              <a:rPr lang="en-US" sz="1000" dirty="0">
                <a:latin typeface="Comic Sans MS" panose="030F0902030302020204" pitchFamily="66" charset="0"/>
              </a:rPr>
              <a:t>Inset data</a:t>
            </a:r>
          </a:p>
          <a:p>
            <a:r>
              <a:rPr lang="en-US" sz="1000" dirty="0">
                <a:latin typeface="Comic Sans MS" panose="030F0902030302020204" pitchFamily="66" charset="0"/>
              </a:rPr>
              <a:t>Update data</a:t>
            </a:r>
          </a:p>
          <a:p>
            <a:r>
              <a:rPr lang="en-US" sz="1000" dirty="0">
                <a:latin typeface="Comic Sans MS" panose="030F0902030302020204" pitchFamily="66" charset="0"/>
              </a:rPr>
              <a:t>Delete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DEDB53-446D-D3E0-3ED1-BF6F80BB6D60}"/>
              </a:ext>
            </a:extLst>
          </p:cNvPr>
          <p:cNvSpPr txBox="1"/>
          <p:nvPr/>
        </p:nvSpPr>
        <p:spPr>
          <a:xfrm>
            <a:off x="158043" y="4376092"/>
            <a:ext cx="1128623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1. Update anomaly — updating data becomes risky</a:t>
            </a:r>
          </a:p>
          <a:p>
            <a:r>
              <a:rPr lang="en-GB" dirty="0"/>
              <a:t>If the same fact appears in multiple rows, you must update </a:t>
            </a:r>
            <a:r>
              <a:rPr lang="en-GB" i="1" dirty="0"/>
              <a:t>every</a:t>
            </a:r>
            <a:r>
              <a:rPr lang="en-GB" dirty="0"/>
              <a:t> copy.</a:t>
            </a:r>
          </a:p>
          <a:p>
            <a:r>
              <a:rPr lang="en-GB" b="1" dirty="0"/>
              <a:t>Example:</a:t>
            </a:r>
            <a:br>
              <a:rPr lang="en-GB" dirty="0"/>
            </a:br>
            <a:r>
              <a:rPr lang="en-GB" dirty="0"/>
              <a:t>A customer’s address appears in 5 different rows.</a:t>
            </a:r>
            <a:br>
              <a:rPr lang="en-GB" dirty="0"/>
            </a:br>
            <a:r>
              <a:rPr lang="en-GB" dirty="0"/>
              <a:t>If the customer moves, and you update only 4 rows, your database now has </a:t>
            </a:r>
            <a:r>
              <a:rPr lang="en-GB" b="1" dirty="0"/>
              <a:t>conflicting information</a:t>
            </a:r>
            <a:r>
              <a:rPr lang="en-GB" dirty="0"/>
              <a:t>—some correct addresses, some outdated ones.</a:t>
            </a:r>
          </a:p>
        </p:txBody>
      </p:sp>
    </p:spTree>
    <p:extLst>
      <p:ext uri="{BB962C8B-B14F-4D97-AF65-F5344CB8AC3E}">
        <p14:creationId xmlns:p14="http://schemas.microsoft.com/office/powerpoint/2010/main" val="3674052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25DBD-922C-8444-394F-5F4AF0592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77" y="213326"/>
            <a:ext cx="9475554" cy="1077916"/>
          </a:xfrm>
        </p:spPr>
        <p:txBody>
          <a:bodyPr>
            <a:normAutofit fontScale="90000"/>
          </a:bodyPr>
          <a:lstStyle/>
          <a:p>
            <a:r>
              <a:rPr lang="en-US" dirty="0"/>
              <a:t>Normalization  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1nf - Anomalies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5D677F-152D-36E8-EE37-72C8A8293959}"/>
              </a:ext>
            </a:extLst>
          </p:cNvPr>
          <p:cNvSpPr txBox="1"/>
          <p:nvPr/>
        </p:nvSpPr>
        <p:spPr>
          <a:xfrm>
            <a:off x="213224" y="1464283"/>
            <a:ext cx="11447839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2. Insert anomaly — you can’t store new information unless something else also exists</a:t>
            </a:r>
          </a:p>
          <a:p>
            <a:r>
              <a:rPr lang="en-GB" sz="1400" dirty="0"/>
              <a:t>Sometimes you cannot insert a fact because it depends on another repeated fact.</a:t>
            </a:r>
          </a:p>
          <a:p>
            <a:r>
              <a:rPr lang="en-GB" sz="1400" b="1" dirty="0"/>
              <a:t>Example:</a:t>
            </a:r>
            <a:br>
              <a:rPr lang="en-GB" sz="1400" dirty="0"/>
            </a:br>
            <a:r>
              <a:rPr lang="en-GB" sz="1400" dirty="0"/>
              <a:t>If a course table repeats instructor data for each student enrolled, you cannot add a new instructor until at least one student </a:t>
            </a:r>
            <a:r>
              <a:rPr lang="en-GB" sz="1400" dirty="0" err="1"/>
              <a:t>enrolls</a:t>
            </a:r>
            <a:r>
              <a:rPr lang="en-GB" sz="1400" dirty="0"/>
              <a:t>.</a:t>
            </a:r>
            <a:br>
              <a:rPr lang="en-GB" sz="1400" dirty="0"/>
            </a:br>
            <a:r>
              <a:rPr lang="en-GB" sz="1400" dirty="0"/>
              <a:t>This is an </a:t>
            </a:r>
            <a:r>
              <a:rPr lang="en-GB" sz="1400" i="1" dirty="0"/>
              <a:t>insert anomaly</a:t>
            </a:r>
            <a:r>
              <a:rPr lang="en-GB" sz="1400" dirty="0"/>
              <a:t> caused by bad design.</a:t>
            </a:r>
          </a:p>
          <a:p>
            <a:r>
              <a:rPr lang="en-GB" sz="1400" b="1" dirty="0">
                <a:solidFill>
                  <a:srgbClr val="0070C0"/>
                </a:solidFill>
              </a:rPr>
              <a:t>3. Delete anomaly — deleting one row may accidentally delete valuable information</a:t>
            </a:r>
          </a:p>
          <a:p>
            <a:r>
              <a:rPr lang="en-GB" sz="1400" dirty="0"/>
              <a:t>If a fact is repeated only because of redundant rows, deleting the last row that contains it makes the fact disappear entirely.</a:t>
            </a:r>
          </a:p>
          <a:p>
            <a:r>
              <a:rPr lang="en-GB" sz="1400" b="1" dirty="0"/>
              <a:t>Example:</a:t>
            </a:r>
            <a:br>
              <a:rPr lang="en-GB" sz="1400" dirty="0"/>
            </a:br>
            <a:r>
              <a:rPr lang="en-GB" sz="1400" dirty="0"/>
              <a:t>If the last student enrolled in a course drops it, deleting that row may also delete the only copy of the course’s information.</a:t>
            </a:r>
            <a:br>
              <a:rPr lang="en-GB" sz="1400" dirty="0"/>
            </a:br>
            <a:r>
              <a:rPr lang="en-GB" sz="1400" dirty="0"/>
              <a:t>You unintentionally lose important data.</a:t>
            </a:r>
          </a:p>
          <a:p>
            <a:r>
              <a:rPr lang="en-GB" sz="1400" b="1" dirty="0">
                <a:solidFill>
                  <a:srgbClr val="0070C0"/>
                </a:solidFill>
              </a:rPr>
              <a:t>4. Causes inconsistent data (the biggest practical problem)</a:t>
            </a:r>
          </a:p>
          <a:p>
            <a:r>
              <a:rPr lang="en-GB" sz="1400" dirty="0"/>
              <a:t>When the same information is stored multiple times: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Some copies might get updated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Some might not</a:t>
            </a:r>
            <a:br>
              <a:rPr lang="en-GB" sz="1400" dirty="0"/>
            </a:br>
            <a:r>
              <a:rPr lang="en-GB" sz="1400" dirty="0"/>
              <a:t>This leads to </a:t>
            </a:r>
            <a:r>
              <a:rPr lang="en-GB" sz="1400" b="1" dirty="0"/>
              <a:t>data inconsistency</a:t>
            </a:r>
            <a:r>
              <a:rPr lang="en-GB" sz="1400" dirty="0"/>
              <a:t>, which is extremely dangerous for reporting, billing, security, etc.</a:t>
            </a:r>
          </a:p>
          <a:p>
            <a:r>
              <a:rPr lang="en-GB" sz="1400" b="1" dirty="0">
                <a:solidFill>
                  <a:srgbClr val="0070C0"/>
                </a:solidFill>
              </a:rPr>
              <a:t>5. Increases storage usage and slows queries</a:t>
            </a:r>
          </a:p>
          <a:p>
            <a:r>
              <a:rPr lang="en-GB" sz="1400" dirty="0"/>
              <a:t>Repeating rows mean more data to store and process.</a:t>
            </a:r>
            <a:br>
              <a:rPr lang="en-GB" sz="1400" dirty="0"/>
            </a:br>
            <a:r>
              <a:rPr lang="en-GB" sz="1400" dirty="0"/>
              <a:t>This increases: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Disk usage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Query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Index size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Backup time</a:t>
            </a:r>
          </a:p>
          <a:p>
            <a:r>
              <a:rPr lang="en-GB" sz="1400" dirty="0"/>
              <a:t>Even small redundancies add up in large databases.</a:t>
            </a:r>
          </a:p>
        </p:txBody>
      </p:sp>
    </p:spTree>
    <p:extLst>
      <p:ext uri="{BB962C8B-B14F-4D97-AF65-F5344CB8AC3E}">
        <p14:creationId xmlns:p14="http://schemas.microsoft.com/office/powerpoint/2010/main" val="165444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25DBD-922C-8444-394F-5F4AF0592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77" y="213326"/>
            <a:ext cx="9475554" cy="1077916"/>
          </a:xfrm>
        </p:spPr>
        <p:txBody>
          <a:bodyPr>
            <a:normAutofit fontScale="90000"/>
          </a:bodyPr>
          <a:lstStyle/>
          <a:p>
            <a:r>
              <a:rPr lang="en-US" dirty="0"/>
              <a:t>Normalization  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1nf Anomalies</a:t>
            </a:r>
          </a:p>
        </p:txBody>
      </p:sp>
      <p:graphicFrame>
        <p:nvGraphicFramePr>
          <p:cNvPr id="3" name="Content Placeholder 5">
            <a:extLst>
              <a:ext uri="{FF2B5EF4-FFF2-40B4-BE49-F238E27FC236}">
                <a16:creationId xmlns:a16="http://schemas.microsoft.com/office/drawing/2014/main" id="{AF9758CA-3A31-DA54-5C09-41D80545E3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6735607"/>
              </p:ext>
            </p:extLst>
          </p:nvPr>
        </p:nvGraphicFramePr>
        <p:xfrm>
          <a:off x="382285" y="4172046"/>
          <a:ext cx="10058400" cy="182880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91502587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65416649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3642817547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428572095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40372134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 err="1"/>
                        <a:t>StudentID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StudentName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Course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Instructor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InstructorPhone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2293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H" dirty="0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Jane Doe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Math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Dr. Smith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H"/>
                        <a:t>555-1111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075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H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Jane Doe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Science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Dr. Brown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H"/>
                        <a:t>555-2222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7158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H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Jane Doe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History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Dr. Smith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H"/>
                        <a:t>555-1111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2127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H" dirty="0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John Lee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Math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Dr. Smith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555-1111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32898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DA52572-325E-5277-2860-E474034F07B6}"/>
              </a:ext>
            </a:extLst>
          </p:cNvPr>
          <p:cNvSpPr txBox="1"/>
          <p:nvPr/>
        </p:nvSpPr>
        <p:spPr>
          <a:xfrm>
            <a:off x="242878" y="1499501"/>
            <a:ext cx="457094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Comic Sans MS" panose="030F0902030302020204" pitchFamily="66" charset="0"/>
              </a:defRPr>
            </a:lvl1pPr>
          </a:lstStyle>
          <a:p>
            <a:r>
              <a:rPr lang="de-CH" dirty="0"/>
              <a:t>This </a:t>
            </a:r>
            <a:r>
              <a:rPr lang="de-CH" dirty="0" err="1"/>
              <a:t>table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unnormalized</a:t>
            </a:r>
            <a:r>
              <a:rPr lang="de-CH" dirty="0"/>
              <a:t> </a:t>
            </a:r>
            <a:r>
              <a:rPr lang="de-CH" dirty="0" err="1"/>
              <a:t>since</a:t>
            </a:r>
            <a:r>
              <a:rPr lang="de-CH" dirty="0"/>
              <a:t> </a:t>
            </a:r>
            <a:r>
              <a:rPr lang="de-CH" dirty="0" err="1"/>
              <a:t>contain</a:t>
            </a:r>
            <a:r>
              <a:rPr lang="de-CH" dirty="0"/>
              <a:t> </a:t>
            </a:r>
            <a:r>
              <a:rPr lang="de-CH" dirty="0" err="1"/>
              <a:t>anomalies</a:t>
            </a:r>
            <a:endParaRPr lang="de-CH" dirty="0"/>
          </a:p>
          <a:p>
            <a:r>
              <a:rPr lang="en-GB" b="1" dirty="0"/>
              <a:t>1. Update anomaly</a:t>
            </a:r>
          </a:p>
          <a:p>
            <a:r>
              <a:rPr lang="en-GB" dirty="0" err="1"/>
              <a:t>Dr.</a:t>
            </a:r>
            <a:r>
              <a:rPr lang="en-GB" dirty="0"/>
              <a:t> Smith changes his phone number.</a:t>
            </a:r>
            <a:br>
              <a:rPr lang="en-GB" dirty="0"/>
            </a:br>
            <a:r>
              <a:rPr lang="en-GB" dirty="0"/>
              <a:t>His phone number appears in </a:t>
            </a:r>
            <a:r>
              <a:rPr lang="en-GB" b="1" dirty="0"/>
              <a:t>three rows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If we update only two → inconsistent data.</a:t>
            </a:r>
          </a:p>
          <a:p>
            <a:r>
              <a:rPr lang="en-GB" b="1" dirty="0"/>
              <a:t>2. Insert anomaly</a:t>
            </a:r>
          </a:p>
          <a:p>
            <a:r>
              <a:rPr lang="en-GB" dirty="0"/>
              <a:t>We cannot add a new course unless at least one student </a:t>
            </a:r>
            <a:r>
              <a:rPr lang="en-GB" dirty="0" err="1"/>
              <a:t>enrolls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Because course and instructor info exist only inside these rows.</a:t>
            </a:r>
          </a:p>
          <a:p>
            <a:r>
              <a:rPr lang="en-GB" b="1" dirty="0"/>
              <a:t>3. Delete anomaly</a:t>
            </a:r>
          </a:p>
          <a:p>
            <a:r>
              <a:rPr lang="en-GB" dirty="0"/>
              <a:t>If Jane Doe drops all her courses, deleting her rows also deletes: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Math course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Dr.</a:t>
            </a:r>
            <a:r>
              <a:rPr lang="en-GB" dirty="0"/>
              <a:t> Smith’s instructor info</a:t>
            </a:r>
            <a:br>
              <a:rPr lang="en-GB" dirty="0"/>
            </a:br>
            <a:r>
              <a:rPr lang="en-GB" dirty="0"/>
              <a:t>We lose real data accidentally.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7939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25DBD-922C-8444-394F-5F4AF0592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77" y="213326"/>
            <a:ext cx="9475554" cy="1077916"/>
          </a:xfrm>
        </p:spPr>
        <p:txBody>
          <a:bodyPr>
            <a:normAutofit fontScale="90000"/>
          </a:bodyPr>
          <a:lstStyle/>
          <a:p>
            <a:r>
              <a:rPr lang="en-US" dirty="0"/>
              <a:t>Normalization  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1nf Anomalies solution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A52572-325E-5277-2860-E474034F07B6}"/>
              </a:ext>
            </a:extLst>
          </p:cNvPr>
          <p:cNvSpPr txBox="1"/>
          <p:nvPr/>
        </p:nvSpPr>
        <p:spPr>
          <a:xfrm>
            <a:off x="242878" y="1499501"/>
            <a:ext cx="45709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Comic Sans MS" panose="030F0902030302020204" pitchFamily="66" charset="0"/>
              </a:defRPr>
            </a:lvl1pPr>
          </a:lstStyle>
          <a:p>
            <a:r>
              <a:rPr lang="de-CH" dirty="0" err="1"/>
              <a:t>We</a:t>
            </a:r>
            <a:r>
              <a:rPr lang="de-CH" dirty="0"/>
              <a:t> </a:t>
            </a:r>
            <a:r>
              <a:rPr lang="de-CH" dirty="0" err="1"/>
              <a:t>split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information</a:t>
            </a:r>
            <a:r>
              <a:rPr lang="de-CH" dirty="0"/>
              <a:t> </a:t>
            </a:r>
            <a:r>
              <a:rPr lang="de-CH" dirty="0" err="1"/>
              <a:t>into</a:t>
            </a:r>
            <a:r>
              <a:rPr lang="de-CH" dirty="0"/>
              <a:t> 3 </a:t>
            </a:r>
            <a:r>
              <a:rPr lang="de-CH" dirty="0" err="1"/>
              <a:t>tables</a:t>
            </a:r>
            <a:endParaRPr lang="de-CH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DF5797D-FA25-32EA-2AEA-35FECE001D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724179"/>
              </p:ext>
            </p:extLst>
          </p:nvPr>
        </p:nvGraphicFramePr>
        <p:xfrm>
          <a:off x="333692" y="2261758"/>
          <a:ext cx="2194660" cy="82296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887295">
                  <a:extLst>
                    <a:ext uri="{9D8B030D-6E8A-4147-A177-3AD203B41FA5}">
                      <a16:colId xmlns:a16="http://schemas.microsoft.com/office/drawing/2014/main" val="2630250347"/>
                    </a:ext>
                  </a:extLst>
                </a:gridCol>
                <a:gridCol w="1307365">
                  <a:extLst>
                    <a:ext uri="{9D8B030D-6E8A-4147-A177-3AD203B41FA5}">
                      <a16:colId xmlns:a16="http://schemas.microsoft.com/office/drawing/2014/main" val="36070380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200" dirty="0" err="1"/>
                        <a:t>StudentID</a:t>
                      </a:r>
                      <a:endParaRPr lang="en-GB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 err="1"/>
                        <a:t>StudentName</a:t>
                      </a:r>
                      <a:endParaRPr lang="en-GB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0120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H" sz="1200" dirty="0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Jane Doe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5228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H" sz="1200" dirty="0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John Lee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298174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8C7D9C3-E957-FD12-3678-53B476E38F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233686"/>
              </p:ext>
            </p:extLst>
          </p:nvPr>
        </p:nvGraphicFramePr>
        <p:xfrm>
          <a:off x="2906116" y="2124598"/>
          <a:ext cx="3260201" cy="109728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879920">
                  <a:extLst>
                    <a:ext uri="{9D8B030D-6E8A-4147-A177-3AD203B41FA5}">
                      <a16:colId xmlns:a16="http://schemas.microsoft.com/office/drawing/2014/main" val="3679372234"/>
                    </a:ext>
                  </a:extLst>
                </a:gridCol>
                <a:gridCol w="2380281">
                  <a:extLst>
                    <a:ext uri="{9D8B030D-6E8A-4147-A177-3AD203B41FA5}">
                      <a16:colId xmlns:a16="http://schemas.microsoft.com/office/drawing/2014/main" val="23125111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200" kern="1200" dirty="0" err="1">
                          <a:solidFill>
                            <a:schemeClr val="dk1"/>
                          </a:solidFill>
                        </a:rPr>
                        <a:t>CourseID</a:t>
                      </a:r>
                      <a:endParaRPr lang="en-GB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 err="1"/>
                        <a:t>CourseName</a:t>
                      </a:r>
                      <a:endParaRPr lang="en-GB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9857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200" dirty="0"/>
                        <a:t>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Math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3465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200" dirty="0"/>
                        <a:t>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Science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9339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200" dirty="0"/>
                        <a:t>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History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828691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9E4D7B6-F124-BD4B-568A-0385629451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365530"/>
              </p:ext>
            </p:extLst>
          </p:nvPr>
        </p:nvGraphicFramePr>
        <p:xfrm>
          <a:off x="6927575" y="3429000"/>
          <a:ext cx="4922745" cy="77724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1257589">
                  <a:extLst>
                    <a:ext uri="{9D8B030D-6E8A-4147-A177-3AD203B41FA5}">
                      <a16:colId xmlns:a16="http://schemas.microsoft.com/office/drawing/2014/main" val="796077224"/>
                    </a:ext>
                  </a:extLst>
                </a:gridCol>
                <a:gridCol w="1042870">
                  <a:extLst>
                    <a:ext uri="{9D8B030D-6E8A-4147-A177-3AD203B41FA5}">
                      <a16:colId xmlns:a16="http://schemas.microsoft.com/office/drawing/2014/main" val="396608707"/>
                    </a:ext>
                  </a:extLst>
                </a:gridCol>
                <a:gridCol w="2622286">
                  <a:extLst>
                    <a:ext uri="{9D8B030D-6E8A-4147-A177-3AD203B41FA5}">
                      <a16:colId xmlns:a16="http://schemas.microsoft.com/office/drawing/2014/main" val="25217893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100" dirty="0" err="1"/>
                        <a:t>InstructorID</a:t>
                      </a:r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Phone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2699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100" dirty="0"/>
                        <a:t>I1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Dr. Smith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H" sz="1100"/>
                        <a:t>555-1111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3763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100"/>
                        <a:t>I2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 dirty="0" err="1"/>
                        <a:t>Dr.</a:t>
                      </a:r>
                      <a:r>
                        <a:rPr lang="en-GB" sz="1100" dirty="0"/>
                        <a:t> Brown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H" sz="1100" dirty="0"/>
                        <a:t>555-2222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473679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7BD2EDD-2000-950B-6E86-EC2D3EA3E1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333316"/>
              </p:ext>
            </p:extLst>
          </p:nvPr>
        </p:nvGraphicFramePr>
        <p:xfrm>
          <a:off x="6443926" y="1571871"/>
          <a:ext cx="5693562" cy="137160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1310487">
                  <a:extLst>
                    <a:ext uri="{9D8B030D-6E8A-4147-A177-3AD203B41FA5}">
                      <a16:colId xmlns:a16="http://schemas.microsoft.com/office/drawing/2014/main" val="974169521"/>
                    </a:ext>
                  </a:extLst>
                </a:gridCol>
                <a:gridCol w="1299809">
                  <a:extLst>
                    <a:ext uri="{9D8B030D-6E8A-4147-A177-3AD203B41FA5}">
                      <a16:colId xmlns:a16="http://schemas.microsoft.com/office/drawing/2014/main" val="4125826981"/>
                    </a:ext>
                  </a:extLst>
                </a:gridCol>
                <a:gridCol w="3083266">
                  <a:extLst>
                    <a:ext uri="{9D8B030D-6E8A-4147-A177-3AD203B41FA5}">
                      <a16:colId xmlns:a16="http://schemas.microsoft.com/office/drawing/2014/main" val="1839212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200" dirty="0" err="1"/>
                        <a:t>StudentID</a:t>
                      </a:r>
                      <a:endParaRPr lang="en-GB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CourseID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InstructorID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9032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H" sz="1200" dirty="0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I1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0182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H" sz="1200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I2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1009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H" sz="1200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I1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3455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H" sz="1200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I1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180841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AB1C652-0982-88E9-E9A1-D09179B4E833}"/>
              </a:ext>
            </a:extLst>
          </p:cNvPr>
          <p:cNvSpPr txBox="1"/>
          <p:nvPr/>
        </p:nvSpPr>
        <p:spPr>
          <a:xfrm>
            <a:off x="230067" y="3636123"/>
            <a:ext cx="6442785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/>
              <a:t>Why This Fixes the Problems</a:t>
            </a:r>
          </a:p>
          <a:p>
            <a:r>
              <a:rPr lang="en-GB" sz="1400" b="1" dirty="0"/>
              <a:t>✔ Update anomaly solved</a:t>
            </a:r>
          </a:p>
          <a:p>
            <a:r>
              <a:rPr lang="en-GB" sz="1400" dirty="0" err="1"/>
              <a:t>Dr.</a:t>
            </a:r>
            <a:r>
              <a:rPr lang="en-GB" sz="1400" dirty="0"/>
              <a:t> Smith’s phone number exists </a:t>
            </a:r>
            <a:r>
              <a:rPr lang="en-GB" sz="1400" b="1" dirty="0"/>
              <a:t>once</a:t>
            </a:r>
            <a:r>
              <a:rPr lang="en-GB" sz="1400" dirty="0"/>
              <a:t>, in the Instructor table.</a:t>
            </a:r>
          </a:p>
          <a:p>
            <a:r>
              <a:rPr lang="en-GB" sz="1400" b="1" dirty="0"/>
              <a:t>✔ Insert anomaly solved</a:t>
            </a:r>
          </a:p>
          <a:p>
            <a:r>
              <a:rPr lang="en-GB" sz="1400" dirty="0"/>
              <a:t>We can add new courses or instructors without needing students enrolled.</a:t>
            </a:r>
          </a:p>
          <a:p>
            <a:r>
              <a:rPr lang="en-GB" sz="1400" b="1" dirty="0"/>
              <a:t>✔ Delete anomaly solved</a:t>
            </a:r>
          </a:p>
          <a:p>
            <a:r>
              <a:rPr lang="en-GB" sz="1400" dirty="0"/>
              <a:t>Deleting </a:t>
            </a:r>
            <a:r>
              <a:rPr lang="en-GB" sz="1400" dirty="0" err="1"/>
              <a:t>enrollments</a:t>
            </a:r>
            <a:r>
              <a:rPr lang="en-GB" sz="1400" dirty="0"/>
              <a:t> does not delete courses or instructor data.</a:t>
            </a:r>
          </a:p>
          <a:p>
            <a:r>
              <a:rPr lang="en-GB" sz="1400" b="1" dirty="0"/>
              <a:t>✔ Consistency guaranteed</a:t>
            </a:r>
          </a:p>
          <a:p>
            <a:r>
              <a:rPr lang="en-GB" sz="1400" dirty="0"/>
              <a:t>Every fact (student, instructor, course) is stored </a:t>
            </a:r>
            <a:r>
              <a:rPr lang="en-GB" sz="1400" b="1" dirty="0"/>
              <a:t>once</a:t>
            </a:r>
            <a:r>
              <a:rPr lang="en-GB" sz="1400" dirty="0"/>
              <a:t>.</a:t>
            </a:r>
          </a:p>
          <a:p>
            <a:r>
              <a:rPr lang="en-GB" sz="1400" b="1" dirty="0"/>
              <a:t>✔ Storage saved</a:t>
            </a:r>
          </a:p>
          <a:p>
            <a:r>
              <a:rPr lang="en-GB" sz="1400" dirty="0"/>
              <a:t>No more duplicated rows.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85014B-3320-7B26-8448-1B02589F7508}"/>
              </a:ext>
            </a:extLst>
          </p:cNvPr>
          <p:cNvSpPr txBox="1"/>
          <p:nvPr/>
        </p:nvSpPr>
        <p:spPr>
          <a:xfrm>
            <a:off x="6443926" y="1118373"/>
            <a:ext cx="45709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Comic Sans MS" panose="030F0902030302020204" pitchFamily="66" charset="0"/>
              </a:defRPr>
            </a:lvl1pPr>
          </a:lstStyle>
          <a:p>
            <a:r>
              <a:rPr lang="de-CH" dirty="0"/>
              <a:t>This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Bridge Table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8477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B95D1-CDDE-7460-2574-48F8AC12E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normal form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F07AD-4CC9-43E2-97E2-1C93D6B163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Assure quality in DB design</a:t>
            </a:r>
          </a:p>
        </p:txBody>
      </p:sp>
    </p:spTree>
    <p:extLst>
      <p:ext uri="{BB962C8B-B14F-4D97-AF65-F5344CB8AC3E}">
        <p14:creationId xmlns:p14="http://schemas.microsoft.com/office/powerpoint/2010/main" val="16473396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25DBD-922C-8444-394F-5F4AF0592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77" y="213326"/>
            <a:ext cx="9475554" cy="1077916"/>
          </a:xfrm>
        </p:spPr>
        <p:txBody>
          <a:bodyPr>
            <a:normAutofit fontScale="90000"/>
          </a:bodyPr>
          <a:lstStyle/>
          <a:p>
            <a:r>
              <a:rPr lang="en-US" dirty="0"/>
              <a:t>Normalization  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2nf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DEDB53-446D-D3E0-3ED1-BF6F80BB6D60}"/>
              </a:ext>
            </a:extLst>
          </p:cNvPr>
          <p:cNvSpPr txBox="1"/>
          <p:nvPr/>
        </p:nvSpPr>
        <p:spPr>
          <a:xfrm>
            <a:off x="242877" y="1407423"/>
            <a:ext cx="1128623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Conditions:</a:t>
            </a:r>
          </a:p>
          <a:p>
            <a:r>
              <a:rPr lang="en-GB" dirty="0"/>
              <a:t>In a table we have multiple Primary Key like (</a:t>
            </a:r>
            <a:r>
              <a:rPr lang="en-GB" dirty="0" err="1"/>
              <a:t>OrderID</a:t>
            </a:r>
            <a:r>
              <a:rPr lang="en-GB" dirty="0"/>
              <a:t>, </a:t>
            </a:r>
            <a:r>
              <a:rPr lang="en-GB" dirty="0" err="1"/>
              <a:t>ProductID</a:t>
            </a:r>
            <a:r>
              <a:rPr lang="en-GB" dirty="0"/>
              <a:t>)</a:t>
            </a:r>
          </a:p>
          <a:p>
            <a:r>
              <a:rPr lang="en-GB" dirty="0"/>
              <a:t>When an attribute depend only on part of the primary key then we must solve the issue</a:t>
            </a:r>
          </a:p>
          <a:p>
            <a:r>
              <a:rPr lang="en-GB" b="1" dirty="0"/>
              <a:t>Primary key:</a:t>
            </a:r>
            <a:r>
              <a:rPr lang="en-GB" dirty="0"/>
              <a:t> (</a:t>
            </a:r>
            <a:r>
              <a:rPr lang="en-GB" dirty="0" err="1"/>
              <a:t>OrderID</a:t>
            </a:r>
            <a:r>
              <a:rPr lang="en-GB" dirty="0"/>
              <a:t>, </a:t>
            </a:r>
            <a:r>
              <a:rPr lang="en-GB" dirty="0" err="1"/>
              <a:t>ProductID</a:t>
            </a:r>
            <a:r>
              <a:rPr lang="en-GB" dirty="0"/>
              <a:t>)</a:t>
            </a:r>
            <a:endParaRPr lang="en-GB" b="1" dirty="0"/>
          </a:p>
          <a:p>
            <a:r>
              <a:rPr lang="en-GB" dirty="0"/>
              <a:t> </a:t>
            </a:r>
          </a:p>
          <a:p>
            <a:endParaRPr lang="en-GB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8BF7A86-3F95-F65E-99FD-CF23C8DE01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382155"/>
              </p:ext>
            </p:extLst>
          </p:nvPr>
        </p:nvGraphicFramePr>
        <p:xfrm>
          <a:off x="355751" y="2872844"/>
          <a:ext cx="10058400" cy="14630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3619403167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242836085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4196234995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024245569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5392058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/>
                        <a:t>OrderID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ProductID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ProductName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Price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Quantity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3864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H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A1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Pen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H"/>
                        <a:t>1.50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H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9021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H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B2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Notebook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H"/>
                        <a:t>2.00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H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2412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H"/>
                        <a:t>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A1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Pen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H"/>
                        <a:t>1.50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4450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12557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CE2C8C-8EBC-3E44-F786-906F94AA098D}"/>
              </a:ext>
            </a:extLst>
          </p:cNvPr>
          <p:cNvSpPr txBox="1"/>
          <p:nvPr/>
        </p:nvSpPr>
        <p:spPr>
          <a:xfrm>
            <a:off x="242877" y="1443535"/>
            <a:ext cx="609391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b="1" dirty="0"/>
              <a:t>✅ </a:t>
            </a:r>
            <a:r>
              <a:rPr lang="en-GB" b="1" dirty="0"/>
              <a:t>Step 1: Check that it is in 1NF</a:t>
            </a:r>
          </a:p>
          <a:p>
            <a:r>
              <a:rPr lang="en-GB" dirty="0"/>
              <a:t>The table is already in 1NF because: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attribute contains multiple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repeating groups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all cells hold atomic values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CH" b="1" dirty="0"/>
              <a:t>❌ </a:t>
            </a:r>
            <a:r>
              <a:rPr lang="en-GB" b="1" dirty="0"/>
              <a:t>Step 2: Identify partial dependencies</a:t>
            </a:r>
          </a:p>
          <a:p>
            <a:r>
              <a:rPr lang="en-GB" dirty="0"/>
              <a:t>The primary key is composite:</a:t>
            </a:r>
            <a:br>
              <a:rPr lang="en-GB" dirty="0"/>
            </a:br>
            <a:r>
              <a:rPr lang="en-GB" b="1" dirty="0"/>
              <a:t>(</a:t>
            </a:r>
            <a:r>
              <a:rPr lang="en-GB" b="1" dirty="0" err="1"/>
              <a:t>OrderID</a:t>
            </a:r>
            <a:r>
              <a:rPr lang="en-GB" b="1" dirty="0"/>
              <a:t>, </a:t>
            </a:r>
            <a:r>
              <a:rPr lang="en-GB" b="1" dirty="0" err="1"/>
              <a:t>ProductID</a:t>
            </a:r>
            <a:r>
              <a:rPr lang="en-GB" b="1" dirty="0"/>
              <a:t>)</a:t>
            </a:r>
            <a:endParaRPr lang="en-GB" dirty="0"/>
          </a:p>
          <a:p>
            <a:r>
              <a:rPr lang="en-GB" dirty="0"/>
              <a:t>Now </a:t>
            </a:r>
            <a:r>
              <a:rPr lang="en-GB" dirty="0" err="1"/>
              <a:t>analyze</a:t>
            </a:r>
            <a:r>
              <a:rPr lang="en-GB" dirty="0"/>
              <a:t> each attribute: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ProductName</a:t>
            </a:r>
            <a:r>
              <a:rPr lang="en-GB" dirty="0"/>
              <a:t> depends </a:t>
            </a:r>
            <a:r>
              <a:rPr lang="en-GB" i="1" dirty="0"/>
              <a:t>only on </a:t>
            </a:r>
            <a:r>
              <a:rPr lang="en-GB" i="1" dirty="0" err="1"/>
              <a:t>ProductID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Price</a:t>
            </a:r>
            <a:r>
              <a:rPr lang="en-GB" dirty="0"/>
              <a:t> depends </a:t>
            </a:r>
            <a:r>
              <a:rPr lang="en-GB" i="1" dirty="0"/>
              <a:t>only on </a:t>
            </a:r>
            <a:r>
              <a:rPr lang="en-GB" i="1" dirty="0" err="1"/>
              <a:t>ProductID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Quantity</a:t>
            </a:r>
            <a:r>
              <a:rPr lang="en-GB" dirty="0"/>
              <a:t> depends on </a:t>
            </a:r>
            <a:r>
              <a:rPr lang="en-GB" i="1" dirty="0"/>
              <a:t>the whole key</a:t>
            </a:r>
            <a:r>
              <a:rPr lang="en-GB" dirty="0"/>
              <a:t> (</a:t>
            </a:r>
            <a:r>
              <a:rPr lang="en-GB" dirty="0" err="1"/>
              <a:t>OrderID</a:t>
            </a:r>
            <a:r>
              <a:rPr lang="en-GB" dirty="0"/>
              <a:t> + </a:t>
            </a:r>
            <a:r>
              <a:rPr lang="en-GB" dirty="0" err="1"/>
              <a:t>ProductID</a:t>
            </a:r>
            <a:r>
              <a:rPr lang="en-GB" dirty="0"/>
              <a:t>)</a:t>
            </a:r>
          </a:p>
          <a:p>
            <a:r>
              <a:rPr lang="en-CH" dirty="0"/>
              <a:t>👉 </a:t>
            </a:r>
            <a:r>
              <a:rPr lang="en-GB" dirty="0"/>
              <a:t>Therefore </a:t>
            </a:r>
            <a:r>
              <a:rPr lang="en-GB" b="1" dirty="0"/>
              <a:t>ProductName</a:t>
            </a:r>
            <a:r>
              <a:rPr lang="en-GB" dirty="0"/>
              <a:t> and </a:t>
            </a:r>
            <a:r>
              <a:rPr lang="en-GB" b="1" dirty="0"/>
              <a:t>Price</a:t>
            </a:r>
            <a:r>
              <a:rPr lang="en-GB" dirty="0"/>
              <a:t> violate 2NF.</a:t>
            </a:r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CBF51D-BD18-C64E-8FDB-017C24A3CD49}"/>
              </a:ext>
            </a:extLst>
          </p:cNvPr>
          <p:cNvSpPr txBox="1"/>
          <p:nvPr/>
        </p:nvSpPr>
        <p:spPr>
          <a:xfrm>
            <a:off x="6336789" y="1443535"/>
            <a:ext cx="583399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b="1" dirty="0"/>
              <a:t>🛠 </a:t>
            </a:r>
            <a:r>
              <a:rPr lang="en-GB" b="1" dirty="0"/>
              <a:t>Step 3: Remove partial dependencies</a:t>
            </a:r>
          </a:p>
          <a:p>
            <a:r>
              <a:rPr lang="en-GB" dirty="0"/>
              <a:t>We create a separate table for product information.</a:t>
            </a:r>
          </a:p>
          <a:p>
            <a:r>
              <a:rPr lang="en-GB" b="1" dirty="0"/>
              <a:t>✔ PRODUCT Table</a:t>
            </a:r>
          </a:p>
          <a:p>
            <a:r>
              <a:rPr lang="en-GB" dirty="0"/>
              <a:t>| </a:t>
            </a:r>
            <a:r>
              <a:rPr lang="en-GB" dirty="0" err="1"/>
              <a:t>ProductID</a:t>
            </a:r>
            <a:r>
              <a:rPr lang="en-GB" dirty="0"/>
              <a:t> (PK) | ProductName | Price |</a:t>
            </a:r>
          </a:p>
          <a:p>
            <a:r>
              <a:rPr lang="en-GB" b="1" dirty="0"/>
              <a:t>✔ ORDER_PRODUCT Table</a:t>
            </a:r>
          </a:p>
          <a:p>
            <a:r>
              <a:rPr lang="en-GB" dirty="0"/>
              <a:t>(many-to-many relationship + quantity)</a:t>
            </a:r>
          </a:p>
          <a:p>
            <a:r>
              <a:rPr lang="en-GB" dirty="0"/>
              <a:t>| </a:t>
            </a:r>
            <a:r>
              <a:rPr lang="en-GB" dirty="0" err="1"/>
              <a:t>OrderID</a:t>
            </a:r>
            <a:r>
              <a:rPr lang="en-GB" dirty="0"/>
              <a:t> (PK) | </a:t>
            </a:r>
            <a:r>
              <a:rPr lang="en-GB" dirty="0" err="1"/>
              <a:t>ProductID</a:t>
            </a:r>
            <a:r>
              <a:rPr lang="en-GB" dirty="0"/>
              <a:t> (PK) | Quantity |</a:t>
            </a:r>
          </a:p>
          <a:p>
            <a:r>
              <a:rPr lang="en-CH" dirty="0"/>
              <a:t>✋ </a:t>
            </a:r>
            <a:r>
              <a:rPr lang="en-GB" dirty="0"/>
              <a:t>NOTE:</a:t>
            </a:r>
            <a:br>
              <a:rPr lang="en-GB" dirty="0"/>
            </a:br>
            <a:r>
              <a:rPr lang="en-GB" dirty="0" err="1"/>
              <a:t>OrderID</a:t>
            </a:r>
            <a:r>
              <a:rPr lang="en-GB" dirty="0"/>
              <a:t> remains, but it has no attributes depending on it yet → so we don’t need a separate Order table in this example.</a:t>
            </a:r>
            <a:br>
              <a:rPr lang="en-GB" dirty="0"/>
            </a:br>
            <a:r>
              <a:rPr lang="en-GB" dirty="0"/>
              <a:t>If we later add order information (date, customer, etc.), then we would create one.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8626F2B-B0C7-4603-2BBE-9F72E07A18EE}"/>
              </a:ext>
            </a:extLst>
          </p:cNvPr>
          <p:cNvSpPr txBox="1">
            <a:spLocks/>
          </p:cNvSpPr>
          <p:nvPr/>
        </p:nvSpPr>
        <p:spPr>
          <a:xfrm>
            <a:off x="242877" y="213326"/>
            <a:ext cx="9475554" cy="1077916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Normalization  </a:t>
            </a:r>
            <a:br>
              <a:rPr lang="en-US"/>
            </a:br>
            <a:r>
              <a:rPr lang="en-US">
                <a:solidFill>
                  <a:schemeClr val="accent1"/>
                </a:solidFill>
              </a:rPr>
              <a:t>2nf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6E59E8-AA0F-CE85-5363-606FBEFC10B3}"/>
              </a:ext>
            </a:extLst>
          </p:cNvPr>
          <p:cNvSpPr txBox="1"/>
          <p:nvPr/>
        </p:nvSpPr>
        <p:spPr>
          <a:xfrm>
            <a:off x="2821488" y="797204"/>
            <a:ext cx="61189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b="1" dirty="0"/>
              <a:t>🎯 </a:t>
            </a:r>
            <a:r>
              <a:rPr lang="en-GB" b="1" dirty="0"/>
              <a:t>Goal</a:t>
            </a:r>
          </a:p>
          <a:p>
            <a:r>
              <a:rPr lang="en-GB" dirty="0"/>
              <a:t>Transform the table into </a:t>
            </a:r>
            <a:r>
              <a:rPr lang="en-GB" b="1" dirty="0"/>
              <a:t>Second Normal Form (2NF)</a:t>
            </a:r>
            <a:r>
              <a:rPr lang="en-GB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C31681-4954-001A-49FC-815D1A8AA609}"/>
              </a:ext>
            </a:extLst>
          </p:cNvPr>
          <p:cNvSpPr txBox="1"/>
          <p:nvPr/>
        </p:nvSpPr>
        <p:spPr>
          <a:xfrm>
            <a:off x="6206832" y="5167346"/>
            <a:ext cx="60939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b="1" dirty="0"/>
              <a:t>🎉 </a:t>
            </a:r>
            <a:r>
              <a:rPr lang="en-GB" b="1" dirty="0"/>
              <a:t>Final Result: 2NF Achieved</a:t>
            </a:r>
          </a:p>
          <a:p>
            <a:r>
              <a:rPr lang="en-GB" dirty="0"/>
              <a:t>Now every table: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has a primary key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all non-key attributes depend on the </a:t>
            </a:r>
            <a:r>
              <a:rPr lang="en-GB" b="1" dirty="0"/>
              <a:t>entire</a:t>
            </a:r>
            <a:r>
              <a:rPr lang="en-GB" dirty="0"/>
              <a:t> key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partial dependencies remain</a:t>
            </a:r>
          </a:p>
        </p:txBody>
      </p:sp>
    </p:spTree>
    <p:extLst>
      <p:ext uri="{BB962C8B-B14F-4D97-AF65-F5344CB8AC3E}">
        <p14:creationId xmlns:p14="http://schemas.microsoft.com/office/powerpoint/2010/main" val="36456370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B95D1-CDDE-7460-2574-48F8AC12E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third normal form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F07AD-4CC9-43E2-97E2-1C93D6B163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Assure quality in DB design</a:t>
            </a:r>
          </a:p>
        </p:txBody>
      </p:sp>
    </p:spTree>
    <p:extLst>
      <p:ext uri="{BB962C8B-B14F-4D97-AF65-F5344CB8AC3E}">
        <p14:creationId xmlns:p14="http://schemas.microsoft.com/office/powerpoint/2010/main" val="7459173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CE2C8C-8EBC-3E44-F786-906F94AA098D}"/>
              </a:ext>
            </a:extLst>
          </p:cNvPr>
          <p:cNvSpPr txBox="1"/>
          <p:nvPr/>
        </p:nvSpPr>
        <p:spPr>
          <a:xfrm>
            <a:off x="242877" y="1443535"/>
            <a:ext cx="60939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Conditions to be in 3NF: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Table must be in 2NF already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All attributes depend only from the Primary Key</a:t>
            </a:r>
          </a:p>
          <a:p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8626F2B-B0C7-4603-2BBE-9F72E07A18EE}"/>
              </a:ext>
            </a:extLst>
          </p:cNvPr>
          <p:cNvSpPr txBox="1">
            <a:spLocks/>
          </p:cNvSpPr>
          <p:nvPr/>
        </p:nvSpPr>
        <p:spPr>
          <a:xfrm>
            <a:off x="242877" y="213326"/>
            <a:ext cx="9475554" cy="1077916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Normalization  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3nf</a:t>
            </a:r>
          </a:p>
        </p:txBody>
      </p:sp>
    </p:spTree>
    <p:extLst>
      <p:ext uri="{BB962C8B-B14F-4D97-AF65-F5344CB8AC3E}">
        <p14:creationId xmlns:p14="http://schemas.microsoft.com/office/powerpoint/2010/main" val="36799820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B95D1-CDDE-7460-2574-48F8AC12E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F07AD-4CC9-43E2-97E2-1C93D6B163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yourself</a:t>
            </a:r>
          </a:p>
        </p:txBody>
      </p:sp>
    </p:spTree>
    <p:extLst>
      <p:ext uri="{BB962C8B-B14F-4D97-AF65-F5344CB8AC3E}">
        <p14:creationId xmlns:p14="http://schemas.microsoft.com/office/powerpoint/2010/main" val="26984691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48782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D0F89-407D-7972-BCAA-55ECCE0481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93FCCA-1340-72B3-D578-8BE9EFD238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7156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D0F89-407D-7972-BCAA-55ECCE0481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93FCCA-1340-72B3-D578-8BE9EFD238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8304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{719BE3F3-1D1F-5D4A-BE92-CD07945C363F}tf10001070_mac</Template>
  <TotalTime>1507</TotalTime>
  <Words>1925</Words>
  <Application>Microsoft Macintosh PowerPoint</Application>
  <PresentationFormat>Widescreen</PresentationFormat>
  <Paragraphs>421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-webkit-standard</vt:lpstr>
      <vt:lpstr>Arial</vt:lpstr>
      <vt:lpstr>Calibri</vt:lpstr>
      <vt:lpstr>Comic Sans MS</vt:lpstr>
      <vt:lpstr>Rockwell</vt:lpstr>
      <vt:lpstr>Rockwell Condensed</vt:lpstr>
      <vt:lpstr>Rockwell Extra Bold</vt:lpstr>
      <vt:lpstr>Wingdings</vt:lpstr>
      <vt:lpstr>Wood Type</vt:lpstr>
      <vt:lpstr>Database design</vt:lpstr>
      <vt:lpstr>3 STEPS DATABASE DESIGNING</vt:lpstr>
      <vt:lpstr>Conceptual Model</vt:lpstr>
      <vt:lpstr>Conceptual Model</vt:lpstr>
      <vt:lpstr>Conceptual Model Cardinality</vt:lpstr>
      <vt:lpstr>Conceptual Model ELIMINATE THE REDUNDANCIES</vt:lpstr>
      <vt:lpstr>LOGICAL Model</vt:lpstr>
      <vt:lpstr>LOGICAL Model</vt:lpstr>
      <vt:lpstr>logical Model transform entities in tables</vt:lpstr>
      <vt:lpstr>logical Model Assign the foreign key</vt:lpstr>
      <vt:lpstr>Normalization</vt:lpstr>
      <vt:lpstr>logical Model NORMALIZATION</vt:lpstr>
      <vt:lpstr>First normal form</vt:lpstr>
      <vt:lpstr>Normalization   1nf – Atomic Attribute</vt:lpstr>
      <vt:lpstr>Normalization   1nf - Anomalies</vt:lpstr>
      <vt:lpstr>Normalization   1nf - Anomalies</vt:lpstr>
      <vt:lpstr>Normalization   1nf Anomalies</vt:lpstr>
      <vt:lpstr>Normalization   1nf Anomalies solution </vt:lpstr>
      <vt:lpstr>second normal form</vt:lpstr>
      <vt:lpstr>Normalization   2nf</vt:lpstr>
      <vt:lpstr>PowerPoint Presentation</vt:lpstr>
      <vt:lpstr>third normal form</vt:lpstr>
      <vt:lpstr>PowerPoint Presentation</vt:lpstr>
      <vt:lpstr>challenge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design</dc:title>
  <dc:creator>Microsoft Office User</dc:creator>
  <cp:lastModifiedBy>Microsoft Office User</cp:lastModifiedBy>
  <cp:revision>46</cp:revision>
  <dcterms:created xsi:type="dcterms:W3CDTF">2025-11-29T23:32:51Z</dcterms:created>
  <dcterms:modified xsi:type="dcterms:W3CDTF">2025-12-06T19:22:49Z</dcterms:modified>
</cp:coreProperties>
</file>